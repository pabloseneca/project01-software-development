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4722" autoAdjust="0"/>
  </p:normalViewPr>
  <p:slideViewPr>
    <p:cSldViewPr snapToGrid="0">
      <p:cViewPr varScale="1">
        <p:scale>
          <a:sx n="60" d="100"/>
          <a:sy n="60" d="100"/>
        </p:scale>
        <p:origin x="19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Speaker 1</a:t>
            </a:r>
            <a:r>
              <a:rPr lang="en-CA" dirty="0"/>
              <a:t>: Pablo </a:t>
            </a:r>
            <a:endParaRPr dirty="0"/>
          </a:p>
          <a:p>
            <a:r>
              <a:rPr dirty="0"/>
              <a:t>Suggested timing: 0:00–0:34</a:t>
            </a:r>
          </a:p>
          <a:p>
            <a:endParaRPr dirty="0"/>
          </a:p>
          <a:p>
            <a:r>
              <a:rPr dirty="0"/>
              <a:t>What if an AI agent you trusted to help you suddenly exposed your private information, simply because it read a malicious message?</a:t>
            </a:r>
          </a:p>
          <a:p>
            <a:endParaRPr dirty="0"/>
          </a:p>
          <a:p>
            <a:r>
              <a:rPr dirty="0"/>
              <a:t>Autonomous AI agents are artificial intelligence systems that can do more than just answer questions. They can perform tasks independently, such as browsing websites, reading files, writing code, and interacting with other software to achieve a goal.</a:t>
            </a:r>
          </a:p>
          <a:p>
            <a:endParaRPr dirty="0"/>
          </a:p>
          <a:p>
            <a:r>
              <a:rPr dirty="0"/>
              <a:t>However, giving AI agents the ability to take action introduces security risks. One major threat is called prompt injection.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Speaker 1</a:t>
            </a:r>
            <a:r>
              <a:rPr lang="en-CA" dirty="0"/>
              <a:t>: Pablo</a:t>
            </a:r>
            <a:endParaRPr dirty="0"/>
          </a:p>
          <a:p>
            <a:r>
              <a:rPr dirty="0"/>
              <a:t>Suggested timing: 0:34–1:10</a:t>
            </a:r>
          </a:p>
          <a:p>
            <a:endParaRPr dirty="0"/>
          </a:p>
          <a:p>
            <a:r>
              <a:rPr dirty="0"/>
              <a:t>Prompt injection occurs when an AI agent encounters malicious instructions hidden in content it processes, such as a website, email, or document. These instructions can trick the agent into ignoring its original task and performing unintended actions.</a:t>
            </a:r>
          </a:p>
          <a:p>
            <a:endParaRPr dirty="0"/>
          </a:p>
          <a:p>
            <a:r>
              <a:rPr dirty="0"/>
              <a:t>For example, an AI agent designed to summarize emails could encounter a malicious message instructing it to reveal confidential information. If the agent follows those instructions, sensitive data could be exposed.</a:t>
            </a:r>
          </a:p>
          <a:p>
            <a:endParaRPr dirty="0"/>
          </a:p>
          <a:p>
            <a:r>
              <a:rPr dirty="0"/>
              <a:t>As AI agents become more powerful, keeping them secure becomes more important than ever.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Speaker 2</a:t>
            </a:r>
            <a:r>
              <a:rPr lang="en-CA" dirty="0"/>
              <a:t>: Reihanne</a:t>
            </a:r>
            <a:endParaRPr dirty="0"/>
          </a:p>
          <a:p>
            <a:r>
              <a:rPr dirty="0"/>
              <a:t>Suggested timing: 1:10–2:05</a:t>
            </a:r>
          </a:p>
          <a:p>
            <a:endParaRPr dirty="0"/>
          </a:p>
          <a:p>
            <a:r>
              <a:rPr dirty="0"/>
              <a:t>In the </a:t>
            </a:r>
            <a:r>
              <a:rPr dirty="0" err="1"/>
              <a:t>Clinejection</a:t>
            </a:r>
            <a:r>
              <a:rPr dirty="0"/>
              <a:t> case, malicious instructions in a GitHub issue could trick an AI bot into running commands. Combined with weaknesses in the build system, this created a path to credentials used to publish software.</a:t>
            </a:r>
          </a:p>
          <a:p>
            <a:endParaRPr dirty="0"/>
          </a:p>
          <a:p>
            <a:r>
              <a:rPr dirty="0"/>
              <a:t>Cline removed the vulnerable workflows on February ninth, 2026. However, one exposed publishing token remained active. On February seventeenth, an attacker used it to publish an unauthorized Cline command-line package that installed OpenClaw.</a:t>
            </a:r>
          </a:p>
          <a:p>
            <a:endParaRPr dirty="0"/>
          </a:p>
          <a:p>
            <a:r>
              <a:rPr dirty="0"/>
              <a:t>Cline reported no stolen user data or malicious code delivered. Still, someone outside the team had gained control over a software release.</a:t>
            </a:r>
          </a:p>
          <a:p>
            <a:endParaRPr dirty="0"/>
          </a:p>
          <a:p>
            <a:r>
              <a:rPr dirty="0"/>
              <a:t>The security lesson is that untrusted input, powerful tools, and weak access boundaries can put the software distribution process at risk.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Speaker 3</a:t>
            </a:r>
            <a:r>
              <a:rPr lang="en-CA" dirty="0"/>
              <a:t>: </a:t>
            </a:r>
            <a:r>
              <a:rPr lang="en-CA" dirty="0" err="1"/>
              <a:t>Syyed</a:t>
            </a:r>
            <a:endParaRPr dirty="0"/>
          </a:p>
          <a:p>
            <a:r>
              <a:rPr dirty="0"/>
              <a:t>Suggested timing: 2:05–2:40</a:t>
            </a:r>
          </a:p>
          <a:p>
            <a:endParaRPr dirty="0"/>
          </a:p>
          <a:p>
            <a:r>
              <a:rPr dirty="0"/>
              <a:t>This incident shows why AI agents need clear limits. They should receive only the permissions needed for their tasks, and sensitive actions, such as publishing software, should require human approval.</a:t>
            </a:r>
          </a:p>
          <a:p>
            <a:endParaRPr dirty="0"/>
          </a:p>
          <a:p>
            <a:r>
              <a:rPr dirty="0"/>
              <a:t>Teams should also separate systems that process untrusted content from those holding publishing credentials. If credentials are exposed, teams must revoke them and verify that they no longer work.</a:t>
            </a:r>
          </a:p>
          <a:p>
            <a:endParaRPr dirty="0"/>
          </a:p>
          <a:p>
            <a:r>
              <a:rPr dirty="0"/>
              <a:t>The main takeaway is that AI agents can support developers, but safe use depends on strong security controls and human oversight.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Speaker 3</a:t>
            </a:r>
            <a:r>
              <a:rPr lang="en-CA" dirty="0"/>
              <a:t>: </a:t>
            </a:r>
            <a:r>
              <a:rPr lang="en-CA" dirty="0" err="1"/>
              <a:t>Syyed</a:t>
            </a:r>
            <a:endParaRPr dirty="0"/>
          </a:p>
          <a:p>
            <a:r>
              <a:rPr dirty="0"/>
              <a:t>Suggested timing: 2:40–2:55</a:t>
            </a:r>
          </a:p>
          <a:p>
            <a:endParaRPr dirty="0"/>
          </a:p>
          <a:p>
            <a:r>
              <a:rPr dirty="0"/>
              <a:t>This leaves us with one question: What actions should an AI coding agent be allowed to perform independently, and which should require human approval?</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17D86DA-BD3D-49DA-A42E-8E24394423B4}"/>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8D75C318-490C-42F1-BE35-C298F1ED2A6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0F762587-08DD-4B7C-9693-4EFB72B45AD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ECF2E2E-2436-4D6E-A88F-40FB0E1CBE3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6CA6E128-F238-4033-BDBB-89285D735693}"/>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03CACCF-BE48-42A3-A749-68AFB8522AD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8950000-12FB-4DA9-A76E-8A014DFF34E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16B5A211-B228-4933-9714-0815D745B68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07A37AB-3A44-4D20-A509-3975D8EDAD2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AB2568E-C199-4CB2-9803-3C9567D65D4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52D"/>
        </a:solidFill>
        <a:effectLst/>
      </p:bgPr>
    </p:bg>
    <p:spTree>
      <p:nvGrpSpPr>
        <p:cNvPr id="1" name=""/>
        <p:cNvGrpSpPr/>
        <p:nvPr/>
      </p:nvGrpSpPr>
      <p:grpSpPr>
        <a:xfrm>
          <a:off x="0" y="0"/>
          <a:ext cx="0" cy="0"/>
          <a:chOff x="0" y="0"/>
          <a:chExt cx="0" cy="0"/>
        </a:xfrm>
      </p:grpSpPr>
      <p:sp>
        <p:nvSpPr>
          <p:cNvPr id="4" name="course">
            <a:extLst>
              <a:ext uri="{FF2B5EF4-FFF2-40B4-BE49-F238E27FC236}">
                <a16:creationId xmlns:a16="http://schemas.microsoft.com/office/drawing/2014/main" id="{1B8654B8-5B61-47BE-B546-E866FD413860}"/>
              </a:ext>
            </a:extLst>
          </p:cNvPr>
          <p:cNvSpPr>
            <a:spLocks noGrp="1"/>
          </p:cNvSpPr>
          <p:nvPr/>
        </p:nvSpPr>
        <p:spPr>
          <a:xfrm>
            <a:off x="723900" y="666750"/>
            <a:ext cx="10477500" cy="381000"/>
          </a:xfrm>
          <a:prstGeom prst="rect">
            <a:avLst/>
          </a:prstGeom>
          <a:noFill/>
          <a:ln w="0">
            <a:noFill/>
            <a:prstDash val="solid"/>
          </a:ln>
        </p:spPr>
        <p:txBody>
          <a:bodyPr wrap="square" lIns="0" tIns="0" rIns="0" bIns="0" anchor="t">
            <a:noAutofit/>
          </a:bodyPr>
          <a:lstStyle>
            <a:defPPr algn="l">
              <a:defRPr sz="1875" b="0">
                <a:solidFill>
                  <a:srgbClr val="8FE0D1"/>
                </a:solidFill>
                <a:latin typeface="DejaVu Sans"/>
                <a:ea typeface="DejaVu Sans"/>
                <a:cs typeface="DejaVu Sans"/>
              </a:defRPr>
            </a:defPPr>
            <a:lvl1pPr algn="l">
              <a:buNone/>
              <a:defRPr sz="1875" b="0">
                <a:solidFill>
                  <a:srgbClr val="8FE0D1"/>
                </a:solidFill>
                <a:latin typeface="DejaVu Sans"/>
                <a:ea typeface="DejaVu Sans"/>
                <a:cs typeface="DejaVu Sans"/>
              </a:defRPr>
            </a:lvl1pPr>
            <a:lvl2pPr algn="l">
              <a:buNone/>
              <a:defRPr sz="1875" b="0">
                <a:solidFill>
                  <a:srgbClr val="8FE0D1"/>
                </a:solidFill>
                <a:latin typeface="DejaVu Sans"/>
                <a:ea typeface="DejaVu Sans"/>
                <a:cs typeface="DejaVu Sans"/>
              </a:defRPr>
            </a:lvl2pPr>
            <a:lvl3pPr algn="l">
              <a:buNone/>
              <a:defRPr sz="1875" b="0">
                <a:solidFill>
                  <a:srgbClr val="8FE0D1"/>
                </a:solidFill>
                <a:latin typeface="DejaVu Sans"/>
                <a:ea typeface="DejaVu Sans"/>
                <a:cs typeface="DejaVu Sans"/>
              </a:defRPr>
            </a:lvl3pPr>
            <a:lvl4pPr algn="l">
              <a:buNone/>
              <a:defRPr sz="1875" b="0">
                <a:solidFill>
                  <a:srgbClr val="8FE0D1"/>
                </a:solidFill>
                <a:latin typeface="DejaVu Sans"/>
                <a:ea typeface="DejaVu Sans"/>
                <a:cs typeface="DejaVu Sans"/>
              </a:defRPr>
            </a:lvl4pPr>
            <a:lvl5pPr algn="l">
              <a:buNone/>
              <a:defRPr sz="1875" b="0">
                <a:solidFill>
                  <a:srgbClr val="8FE0D1"/>
                </a:solidFill>
                <a:latin typeface="DejaVu Sans"/>
                <a:ea typeface="DejaVu Sans"/>
                <a:cs typeface="DejaVu Sans"/>
              </a:defRPr>
            </a:lvl5pPr>
            <a:lvl6pPr algn="l">
              <a:buNone/>
              <a:defRPr sz="1875" b="0">
                <a:solidFill>
                  <a:srgbClr val="8FE0D1"/>
                </a:solidFill>
                <a:latin typeface="DejaVu Sans"/>
                <a:ea typeface="DejaVu Sans"/>
                <a:cs typeface="DejaVu Sans"/>
              </a:defRPr>
            </a:lvl6pPr>
            <a:lvl7pPr algn="l">
              <a:buNone/>
              <a:defRPr sz="1875" b="0">
                <a:solidFill>
                  <a:srgbClr val="8FE0D1"/>
                </a:solidFill>
                <a:latin typeface="DejaVu Sans"/>
                <a:ea typeface="DejaVu Sans"/>
                <a:cs typeface="DejaVu Sans"/>
              </a:defRPr>
            </a:lvl7pPr>
            <a:lvl8pPr algn="l">
              <a:buNone/>
              <a:defRPr sz="1875" b="0">
                <a:solidFill>
                  <a:srgbClr val="8FE0D1"/>
                </a:solidFill>
                <a:latin typeface="DejaVu Sans"/>
                <a:ea typeface="DejaVu Sans"/>
                <a:cs typeface="DejaVu Sans"/>
              </a:defRPr>
            </a:lvl8pPr>
            <a:lvl9pPr algn="l">
              <a:buNone/>
              <a:defRPr sz="1875" b="0">
                <a:solidFill>
                  <a:srgbClr val="8FE0D1"/>
                </a:solidFill>
                <a:latin typeface="DejaVu Sans"/>
                <a:ea typeface="DejaVu Sans"/>
                <a:cs typeface="DejaVu Sans"/>
              </a:defRPr>
            </a:lvl9pPr>
          </a:lstStyle>
          <a:p>
            <a:pPr algn="l">
              <a:lnSpc>
                <a:spcPct val="112000"/>
              </a:lnSpc>
              <a:buNone/>
              <a:defRPr sz="1875" b="0">
                <a:solidFill>
                  <a:srgbClr val="8FE0D1"/>
                </a:solidFill>
                <a:latin typeface="DejaVu Sans"/>
                <a:ea typeface="DejaVu Sans"/>
                <a:cs typeface="DejaVu Sans"/>
              </a:defRPr>
            </a:pPr>
            <a:r>
              <a:rPr sz="1875" b="1" dirty="0">
                <a:solidFill>
                  <a:srgbClr val="8FE0D1"/>
                </a:solidFill>
                <a:latin typeface="Century Gothic" panose="020B0502020202020204" pitchFamily="34" charset="0"/>
              </a:rPr>
              <a:t>CEP146   /   Project 01</a:t>
            </a:r>
            <a:r>
              <a:rPr lang="en-CA" sz="1875" b="1" dirty="0">
                <a:solidFill>
                  <a:srgbClr val="8FE0D1"/>
                </a:solidFill>
                <a:latin typeface="Century Gothic" panose="020B0502020202020204" pitchFamily="34" charset="0"/>
              </a:rPr>
              <a:t>: Software Development Presentation</a:t>
            </a:r>
            <a:endParaRPr sz="1875" b="1" dirty="0">
              <a:solidFill>
                <a:srgbClr val="8FE0D1"/>
              </a:solidFill>
              <a:latin typeface="Century Gothic" panose="020B0502020202020204" pitchFamily="34" charset="0"/>
            </a:endParaRPr>
          </a:p>
        </p:txBody>
      </p:sp>
      <p:sp>
        <p:nvSpPr>
          <p:cNvPr id="2" name="title">
            <a:extLst>
              <a:ext uri="{FF2B5EF4-FFF2-40B4-BE49-F238E27FC236}">
                <a16:creationId xmlns:a16="http://schemas.microsoft.com/office/drawing/2014/main" id="{F0B699D7-39D3-42E3-B602-44996157D01C}"/>
              </a:ext>
            </a:extLst>
          </p:cNvPr>
          <p:cNvSpPr>
            <a:spLocks noGrp="1"/>
          </p:cNvSpPr>
          <p:nvPr/>
        </p:nvSpPr>
        <p:spPr>
          <a:xfrm>
            <a:off x="723900" y="2047875"/>
            <a:ext cx="10744200" cy="2095500"/>
          </a:xfrm>
          <a:prstGeom prst="rect">
            <a:avLst/>
          </a:prstGeom>
          <a:noFill/>
          <a:ln w="0">
            <a:noFill/>
            <a:prstDash val="solid"/>
          </a:ln>
        </p:spPr>
        <p:txBody>
          <a:bodyPr wrap="square" lIns="0" tIns="0" rIns="0" bIns="0" anchor="t">
            <a:noAutofit/>
          </a:bodyPr>
          <a:lstStyle>
            <a:defPPr algn="l">
              <a:defRPr sz="5400" b="1">
                <a:solidFill>
                  <a:srgbClr val="FFFFFF"/>
                </a:solidFill>
                <a:latin typeface="DejaVu Sans"/>
                <a:ea typeface="DejaVu Sans"/>
                <a:cs typeface="DejaVu Sans"/>
              </a:defRPr>
            </a:defPPr>
            <a:lvl1pPr algn="l">
              <a:buNone/>
              <a:defRPr sz="5400" b="1">
                <a:solidFill>
                  <a:srgbClr val="FFFFFF"/>
                </a:solidFill>
                <a:latin typeface="DejaVu Sans"/>
                <a:ea typeface="DejaVu Sans"/>
                <a:cs typeface="DejaVu Sans"/>
              </a:defRPr>
            </a:lvl1pPr>
            <a:lvl2pPr algn="l">
              <a:buNone/>
              <a:defRPr sz="5400" b="1">
                <a:solidFill>
                  <a:srgbClr val="FFFFFF"/>
                </a:solidFill>
                <a:latin typeface="DejaVu Sans"/>
                <a:ea typeface="DejaVu Sans"/>
                <a:cs typeface="DejaVu Sans"/>
              </a:defRPr>
            </a:lvl2pPr>
            <a:lvl3pPr algn="l">
              <a:buNone/>
              <a:defRPr sz="5400" b="1">
                <a:solidFill>
                  <a:srgbClr val="FFFFFF"/>
                </a:solidFill>
                <a:latin typeface="DejaVu Sans"/>
                <a:ea typeface="DejaVu Sans"/>
                <a:cs typeface="DejaVu Sans"/>
              </a:defRPr>
            </a:lvl3pPr>
            <a:lvl4pPr algn="l">
              <a:buNone/>
              <a:defRPr sz="5400" b="1">
                <a:solidFill>
                  <a:srgbClr val="FFFFFF"/>
                </a:solidFill>
                <a:latin typeface="DejaVu Sans"/>
                <a:ea typeface="DejaVu Sans"/>
                <a:cs typeface="DejaVu Sans"/>
              </a:defRPr>
            </a:lvl4pPr>
            <a:lvl5pPr algn="l">
              <a:buNone/>
              <a:defRPr sz="5400" b="1">
                <a:solidFill>
                  <a:srgbClr val="FFFFFF"/>
                </a:solidFill>
                <a:latin typeface="DejaVu Sans"/>
                <a:ea typeface="DejaVu Sans"/>
                <a:cs typeface="DejaVu Sans"/>
              </a:defRPr>
            </a:lvl5pPr>
            <a:lvl6pPr algn="l">
              <a:buNone/>
              <a:defRPr sz="5400" b="1">
                <a:solidFill>
                  <a:srgbClr val="FFFFFF"/>
                </a:solidFill>
                <a:latin typeface="DejaVu Sans"/>
                <a:ea typeface="DejaVu Sans"/>
                <a:cs typeface="DejaVu Sans"/>
              </a:defRPr>
            </a:lvl6pPr>
            <a:lvl7pPr algn="l">
              <a:buNone/>
              <a:defRPr sz="5400" b="1">
                <a:solidFill>
                  <a:srgbClr val="FFFFFF"/>
                </a:solidFill>
                <a:latin typeface="DejaVu Sans"/>
                <a:ea typeface="DejaVu Sans"/>
                <a:cs typeface="DejaVu Sans"/>
              </a:defRPr>
            </a:lvl7pPr>
            <a:lvl8pPr algn="l">
              <a:buNone/>
              <a:defRPr sz="5400" b="1">
                <a:solidFill>
                  <a:srgbClr val="FFFFFF"/>
                </a:solidFill>
                <a:latin typeface="DejaVu Sans"/>
                <a:ea typeface="DejaVu Sans"/>
                <a:cs typeface="DejaVu Sans"/>
              </a:defRPr>
            </a:lvl8pPr>
            <a:lvl9pPr algn="l">
              <a:buNone/>
              <a:defRPr sz="5400" b="1">
                <a:solidFill>
                  <a:srgbClr val="FFFFFF"/>
                </a:solidFill>
                <a:latin typeface="DejaVu Sans"/>
                <a:ea typeface="DejaVu Sans"/>
                <a:cs typeface="DejaVu Sans"/>
              </a:defRPr>
            </a:lvl9pPr>
          </a:lstStyle>
          <a:p>
            <a:pPr algn="l">
              <a:lnSpc>
                <a:spcPct val="112000"/>
              </a:lnSpc>
              <a:buNone/>
              <a:defRPr sz="5400" b="1">
                <a:solidFill>
                  <a:srgbClr val="FFFFFF"/>
                </a:solidFill>
                <a:latin typeface="DejaVu Sans"/>
                <a:ea typeface="DejaVu Sans"/>
                <a:cs typeface="DejaVu Sans"/>
              </a:defRPr>
            </a:pPr>
            <a:r>
              <a:rPr sz="5400" b="1" dirty="0">
                <a:solidFill>
                  <a:srgbClr val="FFFFFF"/>
                </a:solidFill>
                <a:latin typeface="Century Gothic" panose="020B0502020202020204" pitchFamily="34" charset="0"/>
              </a:rPr>
              <a:t>The </a:t>
            </a:r>
            <a:r>
              <a:rPr lang="en-CA" sz="5400" b="1" dirty="0">
                <a:solidFill>
                  <a:srgbClr val="FFFFFF"/>
                </a:solidFill>
                <a:latin typeface="Century Gothic" panose="020B0502020202020204" pitchFamily="34" charset="0"/>
              </a:rPr>
              <a:t>S</a:t>
            </a:r>
            <a:r>
              <a:rPr sz="5400" b="1" dirty="0" err="1">
                <a:solidFill>
                  <a:srgbClr val="FFFFFF"/>
                </a:solidFill>
                <a:latin typeface="Century Gothic" panose="020B0502020202020204" pitchFamily="34" charset="0"/>
              </a:rPr>
              <a:t>ecurity</a:t>
            </a:r>
            <a:r>
              <a:rPr sz="5400" b="1" dirty="0">
                <a:solidFill>
                  <a:srgbClr val="FFFFFF"/>
                </a:solidFill>
                <a:latin typeface="Century Gothic" panose="020B0502020202020204" pitchFamily="34" charset="0"/>
              </a:rPr>
              <a:t> </a:t>
            </a:r>
            <a:r>
              <a:rPr lang="en-CA" dirty="0">
                <a:latin typeface="Century Gothic" panose="020B0502020202020204" pitchFamily="34" charset="0"/>
              </a:rPr>
              <a:t>R</a:t>
            </a:r>
            <a:r>
              <a:rPr sz="5400" b="1" dirty="0" err="1">
                <a:solidFill>
                  <a:srgbClr val="FFFFFF"/>
                </a:solidFill>
                <a:latin typeface="Century Gothic" panose="020B0502020202020204" pitchFamily="34" charset="0"/>
              </a:rPr>
              <a:t>isks</a:t>
            </a:r>
            <a:r>
              <a:rPr sz="5400" b="1" dirty="0">
                <a:solidFill>
                  <a:srgbClr val="FFFFFF"/>
                </a:solidFill>
                <a:latin typeface="Century Gothic" panose="020B0502020202020204" pitchFamily="34" charset="0"/>
              </a:rPr>
              <a:t> of</a:t>
            </a:r>
          </a:p>
          <a:p>
            <a:pPr algn="l">
              <a:lnSpc>
                <a:spcPct val="112000"/>
              </a:lnSpc>
              <a:buNone/>
              <a:defRPr sz="5400" b="1">
                <a:solidFill>
                  <a:srgbClr val="FFFFFF"/>
                </a:solidFill>
                <a:latin typeface="DejaVu Sans"/>
                <a:ea typeface="DejaVu Sans"/>
                <a:cs typeface="DejaVu Sans"/>
              </a:defRPr>
            </a:pPr>
            <a:r>
              <a:rPr lang="en-CA" dirty="0">
                <a:latin typeface="Century Gothic" panose="020B0502020202020204" pitchFamily="34" charset="0"/>
              </a:rPr>
              <a:t>A</a:t>
            </a:r>
            <a:r>
              <a:rPr sz="5400" b="1" dirty="0" err="1">
                <a:solidFill>
                  <a:srgbClr val="FFFFFF"/>
                </a:solidFill>
                <a:latin typeface="Century Gothic" panose="020B0502020202020204" pitchFamily="34" charset="0"/>
              </a:rPr>
              <a:t>utonomous</a:t>
            </a:r>
            <a:r>
              <a:rPr sz="5400" b="1" dirty="0">
                <a:solidFill>
                  <a:srgbClr val="FFFFFF"/>
                </a:solidFill>
                <a:latin typeface="Century Gothic" panose="020B0502020202020204" pitchFamily="34" charset="0"/>
              </a:rPr>
              <a:t> AI </a:t>
            </a:r>
            <a:r>
              <a:rPr lang="en-CA" sz="5400" b="1" dirty="0">
                <a:solidFill>
                  <a:srgbClr val="FFFFFF"/>
                </a:solidFill>
                <a:latin typeface="Century Gothic" panose="020B0502020202020204" pitchFamily="34" charset="0"/>
              </a:rPr>
              <a:t>A</a:t>
            </a:r>
            <a:r>
              <a:rPr sz="5400" b="1" dirty="0">
                <a:solidFill>
                  <a:srgbClr val="FFFFFF"/>
                </a:solidFill>
                <a:latin typeface="Century Gothic" panose="020B0502020202020204" pitchFamily="34" charset="0"/>
              </a:rPr>
              <a:t>gents</a:t>
            </a:r>
          </a:p>
        </p:txBody>
      </p:sp>
      <p:sp>
        <p:nvSpPr>
          <p:cNvPr id="3" name="case">
            <a:extLst>
              <a:ext uri="{FF2B5EF4-FFF2-40B4-BE49-F238E27FC236}">
                <a16:creationId xmlns:a16="http://schemas.microsoft.com/office/drawing/2014/main" id="{3245E7B4-3637-44C0-BD19-7721F5AB590E}"/>
              </a:ext>
            </a:extLst>
          </p:cNvPr>
          <p:cNvSpPr>
            <a:spLocks noGrp="1"/>
          </p:cNvSpPr>
          <p:nvPr/>
        </p:nvSpPr>
        <p:spPr>
          <a:xfrm>
            <a:off x="762000" y="4705350"/>
            <a:ext cx="10477500" cy="1143000"/>
          </a:xfrm>
          <a:prstGeom prst="rect">
            <a:avLst/>
          </a:prstGeom>
          <a:noFill/>
          <a:ln w="0">
            <a:noFill/>
            <a:prstDash val="solid"/>
          </a:ln>
        </p:spPr>
        <p:txBody>
          <a:bodyPr wrap="square" lIns="0" tIns="0" rIns="0" bIns="0" anchor="t">
            <a:noAutofit/>
          </a:bodyPr>
          <a:lstStyle>
            <a:defPPr algn="l">
              <a:defRPr sz="2175" b="0">
                <a:solidFill>
                  <a:srgbClr val="8FE0D1"/>
                </a:solidFill>
                <a:latin typeface="DejaVu Sans"/>
                <a:ea typeface="DejaVu Sans"/>
                <a:cs typeface="DejaVu Sans"/>
              </a:defRPr>
            </a:defPPr>
            <a:lvl1pPr algn="l">
              <a:buNone/>
              <a:defRPr sz="2325" b="0">
                <a:solidFill>
                  <a:srgbClr val="8FE0D1"/>
                </a:solidFill>
                <a:latin typeface="DejaVu Sans"/>
                <a:ea typeface="DejaVu Sans"/>
                <a:cs typeface="DejaVu Sans"/>
              </a:defRPr>
            </a:lvl1pPr>
            <a:lvl2pPr algn="l">
              <a:buNone/>
              <a:defRPr sz="2325" b="0">
                <a:solidFill>
                  <a:srgbClr val="8FE0D1"/>
                </a:solidFill>
                <a:latin typeface="DejaVu Sans"/>
                <a:ea typeface="DejaVu Sans"/>
                <a:cs typeface="DejaVu Sans"/>
              </a:defRPr>
            </a:lvl2pPr>
            <a:lvl3pPr algn="l">
              <a:buNone/>
              <a:defRPr sz="2325" b="0">
                <a:solidFill>
                  <a:srgbClr val="8FE0D1"/>
                </a:solidFill>
                <a:latin typeface="DejaVu Sans"/>
                <a:ea typeface="DejaVu Sans"/>
                <a:cs typeface="DejaVu Sans"/>
              </a:defRPr>
            </a:lvl3pPr>
            <a:lvl4pPr algn="l">
              <a:buNone/>
              <a:defRPr sz="2325" b="0">
                <a:solidFill>
                  <a:srgbClr val="8FE0D1"/>
                </a:solidFill>
                <a:latin typeface="DejaVu Sans"/>
                <a:ea typeface="DejaVu Sans"/>
                <a:cs typeface="DejaVu Sans"/>
              </a:defRPr>
            </a:lvl4pPr>
            <a:lvl5pPr algn="l">
              <a:buNone/>
              <a:defRPr sz="2325" b="0">
                <a:solidFill>
                  <a:srgbClr val="8FE0D1"/>
                </a:solidFill>
                <a:latin typeface="DejaVu Sans"/>
                <a:ea typeface="DejaVu Sans"/>
                <a:cs typeface="DejaVu Sans"/>
              </a:defRPr>
            </a:lvl5pPr>
            <a:lvl6pPr algn="l">
              <a:buNone/>
              <a:defRPr sz="2325" b="0">
                <a:solidFill>
                  <a:srgbClr val="8FE0D1"/>
                </a:solidFill>
                <a:latin typeface="DejaVu Sans"/>
                <a:ea typeface="DejaVu Sans"/>
                <a:cs typeface="DejaVu Sans"/>
              </a:defRPr>
            </a:lvl6pPr>
            <a:lvl7pPr algn="l">
              <a:buNone/>
              <a:defRPr sz="2325" b="0">
                <a:solidFill>
                  <a:srgbClr val="8FE0D1"/>
                </a:solidFill>
                <a:latin typeface="DejaVu Sans"/>
                <a:ea typeface="DejaVu Sans"/>
                <a:cs typeface="DejaVu Sans"/>
              </a:defRPr>
            </a:lvl7pPr>
            <a:lvl8pPr algn="l">
              <a:buNone/>
              <a:defRPr sz="2325" b="0">
                <a:solidFill>
                  <a:srgbClr val="8FE0D1"/>
                </a:solidFill>
                <a:latin typeface="DejaVu Sans"/>
                <a:ea typeface="DejaVu Sans"/>
                <a:cs typeface="DejaVu Sans"/>
              </a:defRPr>
            </a:lvl8pPr>
            <a:lvl9pPr algn="l">
              <a:buNone/>
              <a:defRPr sz="2325" b="0">
                <a:solidFill>
                  <a:srgbClr val="8FE0D1"/>
                </a:solidFill>
                <a:latin typeface="DejaVu Sans"/>
                <a:ea typeface="DejaVu Sans"/>
                <a:cs typeface="DejaVu Sans"/>
              </a:defRPr>
            </a:lvl9pPr>
          </a:lstStyle>
          <a:p>
            <a:pPr algn="l">
              <a:lnSpc>
                <a:spcPct val="112000"/>
              </a:lnSpc>
              <a:buNone/>
              <a:defRPr sz="2325" b="0">
                <a:solidFill>
                  <a:srgbClr val="8FE0D1"/>
                </a:solidFill>
                <a:latin typeface="DejaVu Sans"/>
                <a:ea typeface="DejaVu Sans"/>
                <a:cs typeface="DejaVu Sans"/>
              </a:defRPr>
            </a:pPr>
            <a:r>
              <a:rPr sz="2800" b="0" dirty="0">
                <a:solidFill>
                  <a:srgbClr val="8FE0D1"/>
                </a:solidFill>
                <a:latin typeface="DejaVu Sans"/>
                <a:ea typeface="DejaVu Sans"/>
                <a:cs typeface="DejaVu Sans"/>
              </a:rPr>
              <a:t>AI agents can act </a:t>
            </a:r>
            <a:r>
              <a:rPr sz="2800" b="0" dirty="0">
                <a:solidFill>
                  <a:srgbClr val="8FE0D1"/>
                </a:solidFill>
                <a:latin typeface="Century Gothic" panose="020B0502020202020204" pitchFamily="34" charset="0"/>
              </a:rPr>
              <a:t>independently</a:t>
            </a:r>
            <a:r>
              <a:rPr sz="2800" b="0" dirty="0">
                <a:solidFill>
                  <a:srgbClr val="8FE0D1"/>
                </a:solidFill>
                <a:latin typeface="DejaVu Sans"/>
                <a:ea typeface="DejaVu Sans"/>
                <a:cs typeface="DejaVu Sans"/>
              </a:rPr>
              <a:t> to achieve a goal.</a:t>
            </a:r>
          </a:p>
          <a:p>
            <a:pPr algn="l">
              <a:lnSpc>
                <a:spcPct val="112000"/>
              </a:lnSpc>
              <a:buNone/>
              <a:defRPr sz="2325" b="0">
                <a:solidFill>
                  <a:srgbClr val="8FE0D1"/>
                </a:solidFill>
                <a:latin typeface="DejaVu Sans"/>
                <a:ea typeface="DejaVu Sans"/>
                <a:cs typeface="DejaVu Sans"/>
              </a:defRPr>
            </a:pPr>
            <a:r>
              <a:rPr sz="2800" b="0" dirty="0">
                <a:solidFill>
                  <a:srgbClr val="8FE0D1"/>
                </a:solidFill>
                <a:latin typeface="DejaVu Sans"/>
                <a:ea typeface="DejaVu Sans"/>
                <a:cs typeface="DejaVu Sans"/>
              </a:rPr>
              <a:t>Browse websites, read files, write code, and use software.</a:t>
            </a:r>
          </a:p>
        </p:txBody>
      </p:sp>
    </p:spTree>
    <p:extLst>
      <p:ext uri="{BB962C8B-B14F-4D97-AF65-F5344CB8AC3E}">
        <p14:creationId xmlns:p14="http://schemas.microsoft.com/office/powerpoint/2010/main" val="6747464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6A854739-9637-49D0-9264-BF2E56BBC7FA}"/>
              </a:ext>
            </a:extLst>
          </p:cNvPr>
          <p:cNvSpPr>
            <a:spLocks noGrp="1"/>
          </p:cNvSpPr>
          <p:nvPr/>
        </p:nvSpPr>
        <p:spPr>
          <a:xfrm>
            <a:off x="723900" y="647700"/>
            <a:ext cx="10744200" cy="666750"/>
          </a:xfrm>
          <a:prstGeom prst="rect">
            <a:avLst/>
          </a:prstGeom>
          <a:noFill/>
          <a:ln w="0">
            <a:noFill/>
            <a:prstDash val="solid"/>
          </a:ln>
        </p:spPr>
        <p:txBody>
          <a:bodyPr wrap="square" lIns="0" tIns="0" rIns="0" bIns="0" anchor="t">
            <a:noAutofit/>
          </a:bodyPr>
          <a:lstStyle>
            <a:defPPr algn="l">
              <a:defRPr sz="3600" b="1">
                <a:solidFill>
                  <a:srgbClr val="152D34"/>
                </a:solidFill>
                <a:latin typeface="DejaVu Sans"/>
                <a:ea typeface="DejaVu Sans"/>
                <a:cs typeface="DejaVu Sans"/>
              </a:defRPr>
            </a:defPPr>
            <a:lvl1pPr algn="l">
              <a:buNone/>
              <a:defRPr sz="3600" b="1">
                <a:solidFill>
                  <a:srgbClr val="152D34"/>
                </a:solidFill>
                <a:latin typeface="DejaVu Sans"/>
                <a:ea typeface="DejaVu Sans"/>
                <a:cs typeface="DejaVu Sans"/>
              </a:defRPr>
            </a:lvl1pPr>
            <a:lvl2pPr algn="l">
              <a:buNone/>
              <a:defRPr sz="3600" b="1">
                <a:solidFill>
                  <a:srgbClr val="152D34"/>
                </a:solidFill>
                <a:latin typeface="DejaVu Sans"/>
                <a:ea typeface="DejaVu Sans"/>
                <a:cs typeface="DejaVu Sans"/>
              </a:defRPr>
            </a:lvl2pPr>
            <a:lvl3pPr algn="l">
              <a:buNone/>
              <a:defRPr sz="3600" b="1">
                <a:solidFill>
                  <a:srgbClr val="152D34"/>
                </a:solidFill>
                <a:latin typeface="DejaVu Sans"/>
                <a:ea typeface="DejaVu Sans"/>
                <a:cs typeface="DejaVu Sans"/>
              </a:defRPr>
            </a:lvl3pPr>
            <a:lvl4pPr algn="l">
              <a:buNone/>
              <a:defRPr sz="3600" b="1">
                <a:solidFill>
                  <a:srgbClr val="152D34"/>
                </a:solidFill>
                <a:latin typeface="DejaVu Sans"/>
                <a:ea typeface="DejaVu Sans"/>
                <a:cs typeface="DejaVu Sans"/>
              </a:defRPr>
            </a:lvl4pPr>
            <a:lvl5pPr algn="l">
              <a:buNone/>
              <a:defRPr sz="3600" b="1">
                <a:solidFill>
                  <a:srgbClr val="152D34"/>
                </a:solidFill>
                <a:latin typeface="DejaVu Sans"/>
                <a:ea typeface="DejaVu Sans"/>
                <a:cs typeface="DejaVu Sans"/>
              </a:defRPr>
            </a:lvl5pPr>
            <a:lvl6pPr algn="l">
              <a:buNone/>
              <a:defRPr sz="3600" b="1">
                <a:solidFill>
                  <a:srgbClr val="152D34"/>
                </a:solidFill>
                <a:latin typeface="DejaVu Sans"/>
                <a:ea typeface="DejaVu Sans"/>
                <a:cs typeface="DejaVu Sans"/>
              </a:defRPr>
            </a:lvl6pPr>
            <a:lvl7pPr algn="l">
              <a:buNone/>
              <a:defRPr sz="3600" b="1">
                <a:solidFill>
                  <a:srgbClr val="152D34"/>
                </a:solidFill>
                <a:latin typeface="DejaVu Sans"/>
                <a:ea typeface="DejaVu Sans"/>
                <a:cs typeface="DejaVu Sans"/>
              </a:defRPr>
            </a:lvl7pPr>
            <a:lvl8pPr algn="l">
              <a:buNone/>
              <a:defRPr sz="3600" b="1">
                <a:solidFill>
                  <a:srgbClr val="152D34"/>
                </a:solidFill>
                <a:latin typeface="DejaVu Sans"/>
                <a:ea typeface="DejaVu Sans"/>
                <a:cs typeface="DejaVu Sans"/>
              </a:defRPr>
            </a:lvl8pPr>
            <a:lvl9pPr algn="l">
              <a:buNone/>
              <a:defRPr sz="3600" b="1">
                <a:solidFill>
                  <a:srgbClr val="152D34"/>
                </a:solidFill>
                <a:latin typeface="DejaVu Sans"/>
                <a:ea typeface="DejaVu Sans"/>
                <a:cs typeface="DejaVu Sans"/>
              </a:defRPr>
            </a:lvl9pPr>
          </a:lstStyle>
          <a:p>
            <a:pPr algn="ctr">
              <a:lnSpc>
                <a:spcPct val="112000"/>
              </a:lnSpc>
              <a:buNone/>
              <a:defRPr sz="3600" b="1">
                <a:solidFill>
                  <a:srgbClr val="152D34"/>
                </a:solidFill>
                <a:latin typeface="DejaVu Sans"/>
                <a:ea typeface="DejaVu Sans"/>
                <a:cs typeface="DejaVu Sans"/>
              </a:defRPr>
            </a:pPr>
            <a:r>
              <a:rPr sz="4000" b="1" dirty="0">
                <a:solidFill>
                  <a:srgbClr val="152D34"/>
                </a:solidFill>
                <a:latin typeface="Century Gothic" panose="020B0502020202020204" pitchFamily="34" charset="0"/>
              </a:rPr>
              <a:t>Prompt </a:t>
            </a:r>
            <a:r>
              <a:rPr lang="en-CA" sz="4000" b="1" dirty="0">
                <a:solidFill>
                  <a:srgbClr val="152D34"/>
                </a:solidFill>
                <a:latin typeface="Century Gothic" panose="020B0502020202020204" pitchFamily="34" charset="0"/>
              </a:rPr>
              <a:t>I</a:t>
            </a:r>
            <a:r>
              <a:rPr sz="4000" b="1" dirty="0" err="1">
                <a:solidFill>
                  <a:srgbClr val="152D34"/>
                </a:solidFill>
                <a:latin typeface="Century Gothic" panose="020B0502020202020204" pitchFamily="34" charset="0"/>
              </a:rPr>
              <a:t>njection</a:t>
            </a:r>
            <a:endParaRPr sz="4000" b="1" dirty="0">
              <a:solidFill>
                <a:srgbClr val="152D34"/>
              </a:solidFill>
              <a:latin typeface="Century Gothic" panose="020B0502020202020204" pitchFamily="34" charset="0"/>
            </a:endParaRPr>
          </a:p>
        </p:txBody>
      </p:sp>
      <p:sp>
        <p:nvSpPr>
          <p:cNvPr id="2" name="definition">
            <a:extLst>
              <a:ext uri="{FF2B5EF4-FFF2-40B4-BE49-F238E27FC236}">
                <a16:creationId xmlns:a16="http://schemas.microsoft.com/office/drawing/2014/main" id="{BDD571A4-C1E8-4FBC-B700-B878CF67544E}"/>
              </a:ext>
            </a:extLst>
          </p:cNvPr>
          <p:cNvSpPr>
            <a:spLocks noGrp="1"/>
          </p:cNvSpPr>
          <p:nvPr/>
        </p:nvSpPr>
        <p:spPr>
          <a:xfrm>
            <a:off x="723900" y="1866900"/>
            <a:ext cx="10744200" cy="1333500"/>
          </a:xfrm>
          <a:prstGeom prst="rect">
            <a:avLst/>
          </a:prstGeom>
          <a:noFill/>
          <a:ln w="0">
            <a:noFill/>
            <a:prstDash val="solid"/>
          </a:ln>
        </p:spPr>
        <p:txBody>
          <a:bodyPr wrap="square" lIns="0" tIns="0" rIns="0" bIns="0" anchor="t">
            <a:noAutofit/>
          </a:bodyPr>
          <a:lstStyle>
            <a:defPPr algn="l">
              <a:defRPr sz="3675" b="1">
                <a:solidFill>
                  <a:srgbClr val="007F78"/>
                </a:solidFill>
                <a:latin typeface="DejaVu Sans"/>
                <a:ea typeface="DejaVu Sans"/>
                <a:cs typeface="DejaVu Sans"/>
              </a:defRPr>
            </a:defPPr>
            <a:lvl1pPr algn="l">
              <a:buNone/>
              <a:defRPr sz="3675" b="1">
                <a:solidFill>
                  <a:srgbClr val="007F78"/>
                </a:solidFill>
                <a:latin typeface="DejaVu Sans"/>
                <a:ea typeface="DejaVu Sans"/>
                <a:cs typeface="DejaVu Sans"/>
              </a:defRPr>
            </a:lvl1pPr>
            <a:lvl2pPr algn="l">
              <a:buNone/>
              <a:defRPr sz="3675" b="1">
                <a:solidFill>
                  <a:srgbClr val="007F78"/>
                </a:solidFill>
                <a:latin typeface="DejaVu Sans"/>
                <a:ea typeface="DejaVu Sans"/>
                <a:cs typeface="DejaVu Sans"/>
              </a:defRPr>
            </a:lvl2pPr>
            <a:lvl3pPr algn="l">
              <a:buNone/>
              <a:defRPr sz="3675" b="1">
                <a:solidFill>
                  <a:srgbClr val="007F78"/>
                </a:solidFill>
                <a:latin typeface="DejaVu Sans"/>
                <a:ea typeface="DejaVu Sans"/>
                <a:cs typeface="DejaVu Sans"/>
              </a:defRPr>
            </a:lvl3pPr>
            <a:lvl4pPr algn="l">
              <a:buNone/>
              <a:defRPr sz="3675" b="1">
                <a:solidFill>
                  <a:srgbClr val="007F78"/>
                </a:solidFill>
                <a:latin typeface="DejaVu Sans"/>
                <a:ea typeface="DejaVu Sans"/>
                <a:cs typeface="DejaVu Sans"/>
              </a:defRPr>
            </a:lvl4pPr>
            <a:lvl5pPr algn="l">
              <a:buNone/>
              <a:defRPr sz="3675" b="1">
                <a:solidFill>
                  <a:srgbClr val="007F78"/>
                </a:solidFill>
                <a:latin typeface="DejaVu Sans"/>
                <a:ea typeface="DejaVu Sans"/>
                <a:cs typeface="DejaVu Sans"/>
              </a:defRPr>
            </a:lvl5pPr>
            <a:lvl6pPr algn="l">
              <a:buNone/>
              <a:defRPr sz="3675" b="1">
                <a:solidFill>
                  <a:srgbClr val="007F78"/>
                </a:solidFill>
                <a:latin typeface="DejaVu Sans"/>
                <a:ea typeface="DejaVu Sans"/>
                <a:cs typeface="DejaVu Sans"/>
              </a:defRPr>
            </a:lvl6pPr>
            <a:lvl7pPr algn="l">
              <a:buNone/>
              <a:defRPr sz="3675" b="1">
                <a:solidFill>
                  <a:srgbClr val="007F78"/>
                </a:solidFill>
                <a:latin typeface="DejaVu Sans"/>
                <a:ea typeface="DejaVu Sans"/>
                <a:cs typeface="DejaVu Sans"/>
              </a:defRPr>
            </a:lvl7pPr>
            <a:lvl8pPr algn="l">
              <a:buNone/>
              <a:defRPr sz="3675" b="1">
                <a:solidFill>
                  <a:srgbClr val="007F78"/>
                </a:solidFill>
                <a:latin typeface="DejaVu Sans"/>
                <a:ea typeface="DejaVu Sans"/>
                <a:cs typeface="DejaVu Sans"/>
              </a:defRPr>
            </a:lvl8pPr>
            <a:lvl9pPr algn="l">
              <a:buNone/>
              <a:defRPr sz="3675" b="1">
                <a:solidFill>
                  <a:srgbClr val="007F78"/>
                </a:solidFill>
                <a:latin typeface="DejaVu Sans"/>
                <a:ea typeface="DejaVu Sans"/>
                <a:cs typeface="DejaVu Sans"/>
              </a:defRPr>
            </a:lvl9pPr>
          </a:lstStyle>
          <a:p>
            <a:pPr algn="l">
              <a:lnSpc>
                <a:spcPct val="112000"/>
              </a:lnSpc>
              <a:buNone/>
              <a:defRPr sz="3675" b="1">
                <a:solidFill>
                  <a:srgbClr val="007F78"/>
                </a:solidFill>
                <a:latin typeface="DejaVu Sans"/>
                <a:ea typeface="DejaVu Sans"/>
                <a:cs typeface="DejaVu Sans"/>
              </a:defRPr>
            </a:pPr>
            <a:r>
              <a:rPr sz="3600" b="1" dirty="0">
                <a:solidFill>
                  <a:srgbClr val="007F78"/>
                </a:solidFill>
                <a:latin typeface="Century Gothic" panose="020B0502020202020204" pitchFamily="34" charset="0"/>
              </a:rPr>
              <a:t>Malicious instructions in content</a:t>
            </a:r>
          </a:p>
          <a:p>
            <a:pPr algn="l">
              <a:lnSpc>
                <a:spcPct val="112000"/>
              </a:lnSpc>
              <a:buNone/>
              <a:defRPr sz="3675" b="1">
                <a:solidFill>
                  <a:srgbClr val="007F78"/>
                </a:solidFill>
                <a:latin typeface="DejaVu Sans"/>
                <a:ea typeface="DejaVu Sans"/>
                <a:cs typeface="DejaVu Sans"/>
              </a:defRPr>
            </a:pPr>
            <a:r>
              <a:rPr sz="3600" b="1" dirty="0">
                <a:solidFill>
                  <a:srgbClr val="007F78"/>
                </a:solidFill>
                <a:latin typeface="Century Gothic" panose="020B0502020202020204" pitchFamily="34" charset="0"/>
              </a:rPr>
              <a:t>can redirect an agent’s actions</a:t>
            </a:r>
          </a:p>
        </p:txBody>
      </p:sp>
      <p:sp>
        <p:nvSpPr>
          <p:cNvPr id="3" name="task-label">
            <a:extLst>
              <a:ext uri="{FF2B5EF4-FFF2-40B4-BE49-F238E27FC236}">
                <a16:creationId xmlns:a16="http://schemas.microsoft.com/office/drawing/2014/main" id="{CAAF719E-4F63-43D2-AECD-BFCE532A8C2F}"/>
              </a:ext>
            </a:extLst>
          </p:cNvPr>
          <p:cNvSpPr>
            <a:spLocks noGrp="1"/>
          </p:cNvSpPr>
          <p:nvPr/>
        </p:nvSpPr>
        <p:spPr>
          <a:xfrm>
            <a:off x="723900" y="3933825"/>
            <a:ext cx="4857750" cy="428625"/>
          </a:xfrm>
          <a:prstGeom prst="rect">
            <a:avLst/>
          </a:prstGeom>
          <a:noFill/>
          <a:ln w="0">
            <a:noFill/>
            <a:prstDash val="solid"/>
          </a:ln>
        </p:spPr>
        <p:txBody>
          <a:bodyPr wrap="square" lIns="0" tIns="0" rIns="0" bIns="0" anchor="t">
            <a:noAutofit/>
          </a:bodyPr>
          <a:lstStyle>
            <a:defPPr algn="l">
              <a:defRPr sz="2100" b="1">
                <a:solidFill>
                  <a:srgbClr val="53696C"/>
                </a:solidFill>
                <a:latin typeface="DejaVu Sans"/>
                <a:ea typeface="DejaVu Sans"/>
                <a:cs typeface="DejaVu Sans"/>
              </a:defRPr>
            </a:defPPr>
            <a:lvl1pPr algn="l">
              <a:buNone/>
              <a:defRPr sz="2100" b="1">
                <a:solidFill>
                  <a:srgbClr val="53696C"/>
                </a:solidFill>
                <a:latin typeface="DejaVu Sans"/>
                <a:ea typeface="DejaVu Sans"/>
                <a:cs typeface="DejaVu Sans"/>
              </a:defRPr>
            </a:lvl1pPr>
            <a:lvl2pPr algn="l">
              <a:buNone/>
              <a:defRPr sz="2100" b="1">
                <a:solidFill>
                  <a:srgbClr val="53696C"/>
                </a:solidFill>
                <a:latin typeface="DejaVu Sans"/>
                <a:ea typeface="DejaVu Sans"/>
                <a:cs typeface="DejaVu Sans"/>
              </a:defRPr>
            </a:lvl2pPr>
            <a:lvl3pPr algn="l">
              <a:buNone/>
              <a:defRPr sz="2100" b="1">
                <a:solidFill>
                  <a:srgbClr val="53696C"/>
                </a:solidFill>
                <a:latin typeface="DejaVu Sans"/>
                <a:ea typeface="DejaVu Sans"/>
                <a:cs typeface="DejaVu Sans"/>
              </a:defRPr>
            </a:lvl3pPr>
            <a:lvl4pPr algn="l">
              <a:buNone/>
              <a:defRPr sz="2100" b="1">
                <a:solidFill>
                  <a:srgbClr val="53696C"/>
                </a:solidFill>
                <a:latin typeface="DejaVu Sans"/>
                <a:ea typeface="DejaVu Sans"/>
                <a:cs typeface="DejaVu Sans"/>
              </a:defRPr>
            </a:lvl4pPr>
            <a:lvl5pPr algn="l">
              <a:buNone/>
              <a:defRPr sz="2100" b="1">
                <a:solidFill>
                  <a:srgbClr val="53696C"/>
                </a:solidFill>
                <a:latin typeface="DejaVu Sans"/>
                <a:ea typeface="DejaVu Sans"/>
                <a:cs typeface="DejaVu Sans"/>
              </a:defRPr>
            </a:lvl5pPr>
            <a:lvl6pPr algn="l">
              <a:buNone/>
              <a:defRPr sz="2100" b="1">
                <a:solidFill>
                  <a:srgbClr val="53696C"/>
                </a:solidFill>
                <a:latin typeface="DejaVu Sans"/>
                <a:ea typeface="DejaVu Sans"/>
                <a:cs typeface="DejaVu Sans"/>
              </a:defRPr>
            </a:lvl6pPr>
            <a:lvl7pPr algn="l">
              <a:buNone/>
              <a:defRPr sz="2100" b="1">
                <a:solidFill>
                  <a:srgbClr val="53696C"/>
                </a:solidFill>
                <a:latin typeface="DejaVu Sans"/>
                <a:ea typeface="DejaVu Sans"/>
                <a:cs typeface="DejaVu Sans"/>
              </a:defRPr>
            </a:lvl7pPr>
            <a:lvl8pPr algn="l">
              <a:buNone/>
              <a:defRPr sz="2100" b="1">
                <a:solidFill>
                  <a:srgbClr val="53696C"/>
                </a:solidFill>
                <a:latin typeface="DejaVu Sans"/>
                <a:ea typeface="DejaVu Sans"/>
                <a:cs typeface="DejaVu Sans"/>
              </a:defRPr>
            </a:lvl8pPr>
            <a:lvl9pPr algn="l">
              <a:buNone/>
              <a:defRPr sz="2100" b="1">
                <a:solidFill>
                  <a:srgbClr val="53696C"/>
                </a:solidFill>
                <a:latin typeface="DejaVu Sans"/>
                <a:ea typeface="DejaVu Sans"/>
                <a:cs typeface="DejaVu Sans"/>
              </a:defRPr>
            </a:lvl9pPr>
          </a:lstStyle>
          <a:p>
            <a:pPr algn="l">
              <a:lnSpc>
                <a:spcPct val="112000"/>
              </a:lnSpc>
              <a:buNone/>
              <a:defRPr sz="2100" b="1">
                <a:solidFill>
                  <a:srgbClr val="53696C"/>
                </a:solidFill>
                <a:latin typeface="DejaVu Sans"/>
                <a:ea typeface="DejaVu Sans"/>
                <a:cs typeface="DejaVu Sans"/>
              </a:defRPr>
            </a:pPr>
            <a:r>
              <a:rPr sz="2800" b="1" dirty="0">
                <a:solidFill>
                  <a:srgbClr val="53696C"/>
                </a:solidFill>
                <a:latin typeface="Century Gothic" panose="020B0502020202020204" pitchFamily="34" charset="0"/>
              </a:rPr>
              <a:t>Intended task</a:t>
            </a:r>
          </a:p>
        </p:txBody>
      </p:sp>
      <p:sp>
        <p:nvSpPr>
          <p:cNvPr id="4" name="task">
            <a:extLst>
              <a:ext uri="{FF2B5EF4-FFF2-40B4-BE49-F238E27FC236}">
                <a16:creationId xmlns:a16="http://schemas.microsoft.com/office/drawing/2014/main" id="{FA308B76-ABB9-4584-8D76-173E5E2EAE4A}"/>
              </a:ext>
            </a:extLst>
          </p:cNvPr>
          <p:cNvSpPr>
            <a:spLocks noGrp="1"/>
          </p:cNvSpPr>
          <p:nvPr/>
        </p:nvSpPr>
        <p:spPr>
          <a:xfrm>
            <a:off x="723900" y="4486275"/>
            <a:ext cx="4857750" cy="952500"/>
          </a:xfrm>
          <a:prstGeom prst="rect">
            <a:avLst/>
          </a:prstGeom>
          <a:noFill/>
          <a:ln w="0">
            <a:noFill/>
            <a:prstDash val="solid"/>
          </a:ln>
        </p:spPr>
        <p:txBody>
          <a:bodyPr wrap="square" lIns="0" tIns="0" rIns="0" bIns="0" anchor="t">
            <a:noAutofit/>
          </a:bodyPr>
          <a:lstStyle>
            <a:defPPr algn="l">
              <a:defRPr sz="2475" b="0">
                <a:solidFill>
                  <a:srgbClr val="152D34"/>
                </a:solidFill>
                <a:latin typeface="DejaVu Sans"/>
                <a:ea typeface="DejaVu Sans"/>
                <a:cs typeface="DejaVu Sans"/>
              </a:defRPr>
            </a:defPPr>
            <a:lvl1pPr algn="l">
              <a:buNone/>
              <a:defRPr sz="2475" b="0">
                <a:solidFill>
                  <a:srgbClr val="152D34"/>
                </a:solidFill>
                <a:latin typeface="DejaVu Sans"/>
                <a:ea typeface="DejaVu Sans"/>
                <a:cs typeface="DejaVu Sans"/>
              </a:defRPr>
            </a:lvl1pPr>
            <a:lvl2pPr algn="l">
              <a:buNone/>
              <a:defRPr sz="2475" b="0">
                <a:solidFill>
                  <a:srgbClr val="152D34"/>
                </a:solidFill>
                <a:latin typeface="DejaVu Sans"/>
                <a:ea typeface="DejaVu Sans"/>
                <a:cs typeface="DejaVu Sans"/>
              </a:defRPr>
            </a:lvl2pPr>
            <a:lvl3pPr algn="l">
              <a:buNone/>
              <a:defRPr sz="2475" b="0">
                <a:solidFill>
                  <a:srgbClr val="152D34"/>
                </a:solidFill>
                <a:latin typeface="DejaVu Sans"/>
                <a:ea typeface="DejaVu Sans"/>
                <a:cs typeface="DejaVu Sans"/>
              </a:defRPr>
            </a:lvl3pPr>
            <a:lvl4pPr algn="l">
              <a:buNone/>
              <a:defRPr sz="2475" b="0">
                <a:solidFill>
                  <a:srgbClr val="152D34"/>
                </a:solidFill>
                <a:latin typeface="DejaVu Sans"/>
                <a:ea typeface="DejaVu Sans"/>
                <a:cs typeface="DejaVu Sans"/>
              </a:defRPr>
            </a:lvl4pPr>
            <a:lvl5pPr algn="l">
              <a:buNone/>
              <a:defRPr sz="2475" b="0">
                <a:solidFill>
                  <a:srgbClr val="152D34"/>
                </a:solidFill>
                <a:latin typeface="DejaVu Sans"/>
                <a:ea typeface="DejaVu Sans"/>
                <a:cs typeface="DejaVu Sans"/>
              </a:defRPr>
            </a:lvl5pPr>
            <a:lvl6pPr algn="l">
              <a:buNone/>
              <a:defRPr sz="2475" b="0">
                <a:solidFill>
                  <a:srgbClr val="152D34"/>
                </a:solidFill>
                <a:latin typeface="DejaVu Sans"/>
                <a:ea typeface="DejaVu Sans"/>
                <a:cs typeface="DejaVu Sans"/>
              </a:defRPr>
            </a:lvl6pPr>
            <a:lvl7pPr algn="l">
              <a:buNone/>
              <a:defRPr sz="2475" b="0">
                <a:solidFill>
                  <a:srgbClr val="152D34"/>
                </a:solidFill>
                <a:latin typeface="DejaVu Sans"/>
                <a:ea typeface="DejaVu Sans"/>
                <a:cs typeface="DejaVu Sans"/>
              </a:defRPr>
            </a:lvl7pPr>
            <a:lvl8pPr algn="l">
              <a:buNone/>
              <a:defRPr sz="2475" b="0">
                <a:solidFill>
                  <a:srgbClr val="152D34"/>
                </a:solidFill>
                <a:latin typeface="DejaVu Sans"/>
                <a:ea typeface="DejaVu Sans"/>
                <a:cs typeface="DejaVu Sans"/>
              </a:defRPr>
            </a:lvl8pPr>
            <a:lvl9pPr algn="l">
              <a:buNone/>
              <a:defRPr sz="2475" b="0">
                <a:solidFill>
                  <a:srgbClr val="152D34"/>
                </a:solidFill>
                <a:latin typeface="DejaVu Sans"/>
                <a:ea typeface="DejaVu Sans"/>
                <a:cs typeface="DejaVu Sans"/>
              </a:defRPr>
            </a:lvl9pPr>
          </a:lstStyle>
          <a:p>
            <a:pPr algn="l">
              <a:lnSpc>
                <a:spcPct val="112000"/>
              </a:lnSpc>
              <a:buNone/>
              <a:defRPr sz="2475" b="0">
                <a:solidFill>
                  <a:srgbClr val="152D34"/>
                </a:solidFill>
                <a:latin typeface="DejaVu Sans"/>
                <a:ea typeface="DejaVu Sans"/>
                <a:cs typeface="DejaVu Sans"/>
              </a:defRPr>
            </a:pPr>
            <a:r>
              <a:rPr sz="2800" b="0" dirty="0">
                <a:solidFill>
                  <a:srgbClr val="152D34"/>
                </a:solidFill>
                <a:latin typeface="Century Gothic" panose="020B0502020202020204" pitchFamily="34" charset="0"/>
              </a:rPr>
              <a:t>Summarize emails</a:t>
            </a:r>
          </a:p>
        </p:txBody>
      </p:sp>
      <p:sp>
        <p:nvSpPr>
          <p:cNvPr id="5" name="injection-label">
            <a:extLst>
              <a:ext uri="{FF2B5EF4-FFF2-40B4-BE49-F238E27FC236}">
                <a16:creationId xmlns:a16="http://schemas.microsoft.com/office/drawing/2014/main" id="{DC16DC67-D304-47EE-9556-234FC49C1E5E}"/>
              </a:ext>
            </a:extLst>
          </p:cNvPr>
          <p:cNvSpPr>
            <a:spLocks noGrp="1"/>
          </p:cNvSpPr>
          <p:nvPr/>
        </p:nvSpPr>
        <p:spPr>
          <a:xfrm>
            <a:off x="6477000" y="3933825"/>
            <a:ext cx="4991100" cy="428625"/>
          </a:xfrm>
          <a:prstGeom prst="rect">
            <a:avLst/>
          </a:prstGeom>
          <a:noFill/>
          <a:ln w="0">
            <a:noFill/>
            <a:prstDash val="solid"/>
          </a:ln>
        </p:spPr>
        <p:txBody>
          <a:bodyPr wrap="square" lIns="0" tIns="0" rIns="0" bIns="0" anchor="t">
            <a:noAutofit/>
          </a:bodyPr>
          <a:lstStyle>
            <a:defPPr algn="l">
              <a:defRPr sz="2100" b="1">
                <a:solidFill>
                  <a:srgbClr val="B26324"/>
                </a:solidFill>
                <a:latin typeface="DejaVu Sans"/>
                <a:ea typeface="DejaVu Sans"/>
                <a:cs typeface="DejaVu Sans"/>
              </a:defRPr>
            </a:defPPr>
            <a:lvl1pPr algn="l">
              <a:buNone/>
              <a:defRPr sz="2100" b="1">
                <a:solidFill>
                  <a:srgbClr val="B26324"/>
                </a:solidFill>
                <a:latin typeface="DejaVu Sans"/>
                <a:ea typeface="DejaVu Sans"/>
                <a:cs typeface="DejaVu Sans"/>
              </a:defRPr>
            </a:lvl1pPr>
            <a:lvl2pPr algn="l">
              <a:buNone/>
              <a:defRPr sz="2100" b="1">
                <a:solidFill>
                  <a:srgbClr val="B26324"/>
                </a:solidFill>
                <a:latin typeface="DejaVu Sans"/>
                <a:ea typeface="DejaVu Sans"/>
                <a:cs typeface="DejaVu Sans"/>
              </a:defRPr>
            </a:lvl2pPr>
            <a:lvl3pPr algn="l">
              <a:buNone/>
              <a:defRPr sz="2100" b="1">
                <a:solidFill>
                  <a:srgbClr val="B26324"/>
                </a:solidFill>
                <a:latin typeface="DejaVu Sans"/>
                <a:ea typeface="DejaVu Sans"/>
                <a:cs typeface="DejaVu Sans"/>
              </a:defRPr>
            </a:lvl3pPr>
            <a:lvl4pPr algn="l">
              <a:buNone/>
              <a:defRPr sz="2100" b="1">
                <a:solidFill>
                  <a:srgbClr val="B26324"/>
                </a:solidFill>
                <a:latin typeface="DejaVu Sans"/>
                <a:ea typeface="DejaVu Sans"/>
                <a:cs typeface="DejaVu Sans"/>
              </a:defRPr>
            </a:lvl4pPr>
            <a:lvl5pPr algn="l">
              <a:buNone/>
              <a:defRPr sz="2100" b="1">
                <a:solidFill>
                  <a:srgbClr val="B26324"/>
                </a:solidFill>
                <a:latin typeface="DejaVu Sans"/>
                <a:ea typeface="DejaVu Sans"/>
                <a:cs typeface="DejaVu Sans"/>
              </a:defRPr>
            </a:lvl5pPr>
            <a:lvl6pPr algn="l">
              <a:buNone/>
              <a:defRPr sz="2100" b="1">
                <a:solidFill>
                  <a:srgbClr val="B26324"/>
                </a:solidFill>
                <a:latin typeface="DejaVu Sans"/>
                <a:ea typeface="DejaVu Sans"/>
                <a:cs typeface="DejaVu Sans"/>
              </a:defRPr>
            </a:lvl6pPr>
            <a:lvl7pPr algn="l">
              <a:buNone/>
              <a:defRPr sz="2100" b="1">
                <a:solidFill>
                  <a:srgbClr val="B26324"/>
                </a:solidFill>
                <a:latin typeface="DejaVu Sans"/>
                <a:ea typeface="DejaVu Sans"/>
                <a:cs typeface="DejaVu Sans"/>
              </a:defRPr>
            </a:lvl7pPr>
            <a:lvl8pPr algn="l">
              <a:buNone/>
              <a:defRPr sz="2100" b="1">
                <a:solidFill>
                  <a:srgbClr val="B26324"/>
                </a:solidFill>
                <a:latin typeface="DejaVu Sans"/>
                <a:ea typeface="DejaVu Sans"/>
                <a:cs typeface="DejaVu Sans"/>
              </a:defRPr>
            </a:lvl8pPr>
            <a:lvl9pPr algn="l">
              <a:buNone/>
              <a:defRPr sz="2100" b="1">
                <a:solidFill>
                  <a:srgbClr val="B26324"/>
                </a:solidFill>
                <a:latin typeface="DejaVu Sans"/>
                <a:ea typeface="DejaVu Sans"/>
                <a:cs typeface="DejaVu Sans"/>
              </a:defRPr>
            </a:lvl9pPr>
          </a:lstStyle>
          <a:p>
            <a:pPr algn="l">
              <a:lnSpc>
                <a:spcPct val="112000"/>
              </a:lnSpc>
              <a:buNone/>
              <a:defRPr sz="2100" b="1">
                <a:solidFill>
                  <a:srgbClr val="B26324"/>
                </a:solidFill>
                <a:latin typeface="DejaVu Sans"/>
                <a:ea typeface="DejaVu Sans"/>
                <a:cs typeface="DejaVu Sans"/>
              </a:defRPr>
            </a:pPr>
            <a:r>
              <a:rPr sz="2800" b="1" dirty="0">
                <a:solidFill>
                  <a:srgbClr val="B26324"/>
                </a:solidFill>
                <a:latin typeface="Century Gothic" panose="020B0502020202020204" pitchFamily="34" charset="0"/>
              </a:rPr>
              <a:t>Malicious message</a:t>
            </a:r>
          </a:p>
        </p:txBody>
      </p:sp>
      <p:sp>
        <p:nvSpPr>
          <p:cNvPr id="6" name="injection">
            <a:extLst>
              <a:ext uri="{FF2B5EF4-FFF2-40B4-BE49-F238E27FC236}">
                <a16:creationId xmlns:a16="http://schemas.microsoft.com/office/drawing/2014/main" id="{BCDEBEB4-1440-41ED-BBC3-248DF3834654}"/>
              </a:ext>
            </a:extLst>
          </p:cNvPr>
          <p:cNvSpPr>
            <a:spLocks noGrp="1"/>
          </p:cNvSpPr>
          <p:nvPr/>
        </p:nvSpPr>
        <p:spPr>
          <a:xfrm>
            <a:off x="6477000" y="4486275"/>
            <a:ext cx="4991100" cy="952500"/>
          </a:xfrm>
          <a:prstGeom prst="rect">
            <a:avLst/>
          </a:prstGeom>
          <a:noFill/>
          <a:ln w="0">
            <a:noFill/>
            <a:prstDash val="solid"/>
          </a:ln>
        </p:spPr>
        <p:txBody>
          <a:bodyPr wrap="square" lIns="0" tIns="0" rIns="0" bIns="0" anchor="t">
            <a:noAutofit/>
          </a:bodyPr>
          <a:lstStyle>
            <a:defPPr algn="l">
              <a:defRPr sz="2475" b="0">
                <a:solidFill>
                  <a:srgbClr val="152D34"/>
                </a:solidFill>
                <a:latin typeface="DejaVu Sans"/>
                <a:ea typeface="DejaVu Sans"/>
                <a:cs typeface="DejaVu Sans"/>
              </a:defRPr>
            </a:defPPr>
            <a:lvl1pPr algn="l">
              <a:buNone/>
              <a:defRPr sz="2475" b="0">
                <a:solidFill>
                  <a:srgbClr val="152D34"/>
                </a:solidFill>
                <a:latin typeface="DejaVu Sans"/>
                <a:ea typeface="DejaVu Sans"/>
                <a:cs typeface="DejaVu Sans"/>
              </a:defRPr>
            </a:lvl1pPr>
            <a:lvl2pPr algn="l">
              <a:buNone/>
              <a:defRPr sz="2475" b="0">
                <a:solidFill>
                  <a:srgbClr val="152D34"/>
                </a:solidFill>
                <a:latin typeface="DejaVu Sans"/>
                <a:ea typeface="DejaVu Sans"/>
                <a:cs typeface="DejaVu Sans"/>
              </a:defRPr>
            </a:lvl2pPr>
            <a:lvl3pPr algn="l">
              <a:buNone/>
              <a:defRPr sz="2475" b="0">
                <a:solidFill>
                  <a:srgbClr val="152D34"/>
                </a:solidFill>
                <a:latin typeface="DejaVu Sans"/>
                <a:ea typeface="DejaVu Sans"/>
                <a:cs typeface="DejaVu Sans"/>
              </a:defRPr>
            </a:lvl3pPr>
            <a:lvl4pPr algn="l">
              <a:buNone/>
              <a:defRPr sz="2475" b="0">
                <a:solidFill>
                  <a:srgbClr val="152D34"/>
                </a:solidFill>
                <a:latin typeface="DejaVu Sans"/>
                <a:ea typeface="DejaVu Sans"/>
                <a:cs typeface="DejaVu Sans"/>
              </a:defRPr>
            </a:lvl4pPr>
            <a:lvl5pPr algn="l">
              <a:buNone/>
              <a:defRPr sz="2475" b="0">
                <a:solidFill>
                  <a:srgbClr val="152D34"/>
                </a:solidFill>
                <a:latin typeface="DejaVu Sans"/>
                <a:ea typeface="DejaVu Sans"/>
                <a:cs typeface="DejaVu Sans"/>
              </a:defRPr>
            </a:lvl5pPr>
            <a:lvl6pPr algn="l">
              <a:buNone/>
              <a:defRPr sz="2475" b="0">
                <a:solidFill>
                  <a:srgbClr val="152D34"/>
                </a:solidFill>
                <a:latin typeface="DejaVu Sans"/>
                <a:ea typeface="DejaVu Sans"/>
                <a:cs typeface="DejaVu Sans"/>
              </a:defRPr>
            </a:lvl6pPr>
            <a:lvl7pPr algn="l">
              <a:buNone/>
              <a:defRPr sz="2475" b="0">
                <a:solidFill>
                  <a:srgbClr val="152D34"/>
                </a:solidFill>
                <a:latin typeface="DejaVu Sans"/>
                <a:ea typeface="DejaVu Sans"/>
                <a:cs typeface="DejaVu Sans"/>
              </a:defRPr>
            </a:lvl7pPr>
            <a:lvl8pPr algn="l">
              <a:buNone/>
              <a:defRPr sz="2475" b="0">
                <a:solidFill>
                  <a:srgbClr val="152D34"/>
                </a:solidFill>
                <a:latin typeface="DejaVu Sans"/>
                <a:ea typeface="DejaVu Sans"/>
                <a:cs typeface="DejaVu Sans"/>
              </a:defRPr>
            </a:lvl8pPr>
            <a:lvl9pPr algn="l">
              <a:buNone/>
              <a:defRPr sz="2475" b="0">
                <a:solidFill>
                  <a:srgbClr val="152D34"/>
                </a:solidFill>
                <a:latin typeface="DejaVu Sans"/>
                <a:ea typeface="DejaVu Sans"/>
                <a:cs typeface="DejaVu Sans"/>
              </a:defRPr>
            </a:lvl9pPr>
          </a:lstStyle>
          <a:p>
            <a:pPr algn="l">
              <a:lnSpc>
                <a:spcPct val="112000"/>
              </a:lnSpc>
              <a:buNone/>
              <a:defRPr sz="2475" b="0">
                <a:solidFill>
                  <a:srgbClr val="152D34"/>
                </a:solidFill>
                <a:latin typeface="DejaVu Sans"/>
                <a:ea typeface="DejaVu Sans"/>
                <a:cs typeface="DejaVu Sans"/>
              </a:defRPr>
            </a:pPr>
            <a:r>
              <a:rPr sz="2800" b="0" dirty="0">
                <a:solidFill>
                  <a:srgbClr val="152D34"/>
                </a:solidFill>
                <a:latin typeface="Century Gothic" panose="020B0502020202020204" pitchFamily="34" charset="0"/>
              </a:rPr>
              <a:t>Reveal confidential</a:t>
            </a:r>
          </a:p>
          <a:p>
            <a:pPr algn="l">
              <a:lnSpc>
                <a:spcPct val="112000"/>
              </a:lnSpc>
              <a:buNone/>
              <a:defRPr sz="2475" b="0">
                <a:solidFill>
                  <a:srgbClr val="152D34"/>
                </a:solidFill>
                <a:latin typeface="DejaVu Sans"/>
                <a:ea typeface="DejaVu Sans"/>
                <a:cs typeface="DejaVu Sans"/>
              </a:defRPr>
            </a:pPr>
            <a:r>
              <a:rPr sz="2800" b="0" dirty="0">
                <a:solidFill>
                  <a:srgbClr val="152D34"/>
                </a:solidFill>
                <a:latin typeface="Century Gothic" panose="020B0502020202020204" pitchFamily="34" charset="0"/>
              </a:rPr>
              <a:t>information</a:t>
            </a:r>
          </a:p>
        </p:txBody>
      </p:sp>
      <p:sp>
        <p:nvSpPr>
          <p:cNvPr id="7" name="case-context">
            <a:extLst>
              <a:ext uri="{FF2B5EF4-FFF2-40B4-BE49-F238E27FC236}">
                <a16:creationId xmlns:a16="http://schemas.microsoft.com/office/drawing/2014/main" id="{38806837-A525-4F60-97F7-FEA189AD809B}"/>
              </a:ext>
            </a:extLst>
          </p:cNvPr>
          <p:cNvSpPr>
            <a:spLocks noGrp="1"/>
          </p:cNvSpPr>
          <p:nvPr/>
        </p:nvSpPr>
        <p:spPr>
          <a:xfrm>
            <a:off x="723900" y="5981700"/>
            <a:ext cx="10744200" cy="419100"/>
          </a:xfrm>
          <a:prstGeom prst="rect">
            <a:avLst/>
          </a:prstGeom>
          <a:noFill/>
          <a:ln w="0">
            <a:noFill/>
            <a:prstDash val="solid"/>
          </a:ln>
        </p:spPr>
        <p:txBody>
          <a:bodyPr wrap="square" lIns="0" tIns="0" rIns="0" bIns="0" anchor="t">
            <a:noAutofit/>
          </a:bodyPr>
          <a:lstStyle>
            <a:defPPr algn="l">
              <a:defRPr sz="1800" b="0">
                <a:solidFill>
                  <a:srgbClr val="53696C"/>
                </a:solidFill>
                <a:latin typeface="DejaVu Sans"/>
                <a:ea typeface="DejaVu Sans"/>
                <a:cs typeface="DejaVu Sans"/>
              </a:defRPr>
            </a:defPPr>
            <a:lvl1pPr algn="l">
              <a:buNone/>
              <a:defRPr sz="1800" b="0">
                <a:solidFill>
                  <a:srgbClr val="53696C"/>
                </a:solidFill>
                <a:latin typeface="DejaVu Sans"/>
                <a:ea typeface="DejaVu Sans"/>
                <a:cs typeface="DejaVu Sans"/>
              </a:defRPr>
            </a:lvl1pPr>
            <a:lvl2pPr algn="l">
              <a:buNone/>
              <a:defRPr sz="1800" b="0">
                <a:solidFill>
                  <a:srgbClr val="53696C"/>
                </a:solidFill>
                <a:latin typeface="DejaVu Sans"/>
                <a:ea typeface="DejaVu Sans"/>
                <a:cs typeface="DejaVu Sans"/>
              </a:defRPr>
            </a:lvl2pPr>
            <a:lvl3pPr algn="l">
              <a:buNone/>
              <a:defRPr sz="1800" b="0">
                <a:solidFill>
                  <a:srgbClr val="53696C"/>
                </a:solidFill>
                <a:latin typeface="DejaVu Sans"/>
                <a:ea typeface="DejaVu Sans"/>
                <a:cs typeface="DejaVu Sans"/>
              </a:defRPr>
            </a:lvl3pPr>
            <a:lvl4pPr algn="l">
              <a:buNone/>
              <a:defRPr sz="1800" b="0">
                <a:solidFill>
                  <a:srgbClr val="53696C"/>
                </a:solidFill>
                <a:latin typeface="DejaVu Sans"/>
                <a:ea typeface="DejaVu Sans"/>
                <a:cs typeface="DejaVu Sans"/>
              </a:defRPr>
            </a:lvl4pPr>
            <a:lvl5pPr algn="l">
              <a:buNone/>
              <a:defRPr sz="1800" b="0">
                <a:solidFill>
                  <a:srgbClr val="53696C"/>
                </a:solidFill>
                <a:latin typeface="DejaVu Sans"/>
                <a:ea typeface="DejaVu Sans"/>
                <a:cs typeface="DejaVu Sans"/>
              </a:defRPr>
            </a:lvl5pPr>
            <a:lvl6pPr algn="l">
              <a:buNone/>
              <a:defRPr sz="1800" b="0">
                <a:solidFill>
                  <a:srgbClr val="53696C"/>
                </a:solidFill>
                <a:latin typeface="DejaVu Sans"/>
                <a:ea typeface="DejaVu Sans"/>
                <a:cs typeface="DejaVu Sans"/>
              </a:defRPr>
            </a:lvl6pPr>
            <a:lvl7pPr algn="l">
              <a:buNone/>
              <a:defRPr sz="1800" b="0">
                <a:solidFill>
                  <a:srgbClr val="53696C"/>
                </a:solidFill>
                <a:latin typeface="DejaVu Sans"/>
                <a:ea typeface="DejaVu Sans"/>
                <a:cs typeface="DejaVu Sans"/>
              </a:defRPr>
            </a:lvl7pPr>
            <a:lvl8pPr algn="l">
              <a:buNone/>
              <a:defRPr sz="1800" b="0">
                <a:solidFill>
                  <a:srgbClr val="53696C"/>
                </a:solidFill>
                <a:latin typeface="DejaVu Sans"/>
                <a:ea typeface="DejaVu Sans"/>
                <a:cs typeface="DejaVu Sans"/>
              </a:defRPr>
            </a:lvl8pPr>
            <a:lvl9pPr algn="l">
              <a:buNone/>
              <a:defRPr sz="1800" b="0">
                <a:solidFill>
                  <a:srgbClr val="53696C"/>
                </a:solidFill>
                <a:latin typeface="DejaVu Sans"/>
                <a:ea typeface="DejaVu Sans"/>
                <a:cs typeface="DejaVu Sans"/>
              </a:defRPr>
            </a:lvl9pPr>
          </a:lstStyle>
          <a:p>
            <a:pPr algn="l">
              <a:lnSpc>
                <a:spcPct val="112000"/>
              </a:lnSpc>
              <a:buNone/>
              <a:defRPr sz="1800" b="0">
                <a:solidFill>
                  <a:srgbClr val="53696C"/>
                </a:solidFill>
                <a:latin typeface="DejaVu Sans"/>
                <a:ea typeface="DejaVu Sans"/>
                <a:cs typeface="DejaVu Sans"/>
              </a:defRPr>
            </a:pPr>
            <a:r>
              <a:rPr sz="2000" b="0" dirty="0">
                <a:solidFill>
                  <a:srgbClr val="53696C"/>
                </a:solidFill>
                <a:latin typeface="Century Gothic" panose="020B0502020202020204" pitchFamily="34" charset="0"/>
              </a:rPr>
              <a:t>Hypothetical email example: confidential data could be exposed.</a:t>
            </a:r>
          </a:p>
        </p:txBody>
      </p:sp>
    </p:spTree>
    <p:extLst>
      <p:ext uri="{BB962C8B-B14F-4D97-AF65-F5344CB8AC3E}">
        <p14:creationId xmlns:p14="http://schemas.microsoft.com/office/powerpoint/2010/main" val="2226716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additive="base">
                                        <p:cTn id="41" dur="500" fill="hold"/>
                                        <p:tgtEl>
                                          <p:spTgt spid="7"/>
                                        </p:tgtEl>
                                        <p:attrNameLst>
                                          <p:attrName>ppt_x</p:attrName>
                                        </p:attrNameLst>
                                      </p:cBhvr>
                                      <p:tavLst>
                                        <p:tav tm="0">
                                          <p:val>
                                            <p:strVal val="#ppt_x"/>
                                          </p:val>
                                        </p:tav>
                                        <p:tav tm="100000">
                                          <p:val>
                                            <p:strVal val="#ppt_x"/>
                                          </p:val>
                                        </p:tav>
                                      </p:tavLst>
                                    </p:anim>
                                    <p:anim calcmode="lin" valueType="num">
                                      <p:cBhvr additive="base">
                                        <p:cTn id="4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P spid="5" grpId="0"/>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A3BCF621-7111-434D-89CD-DCBAE67D243C}"/>
              </a:ext>
            </a:extLst>
          </p:cNvPr>
          <p:cNvSpPr>
            <a:spLocks noGrp="1"/>
          </p:cNvSpPr>
          <p:nvPr/>
        </p:nvSpPr>
        <p:spPr>
          <a:xfrm>
            <a:off x="723900" y="619125"/>
            <a:ext cx="10744200" cy="666750"/>
          </a:xfrm>
          <a:prstGeom prst="rect">
            <a:avLst/>
          </a:prstGeom>
          <a:noFill/>
          <a:ln w="0">
            <a:noFill/>
            <a:prstDash val="solid"/>
          </a:ln>
        </p:spPr>
        <p:txBody>
          <a:bodyPr wrap="square" lIns="0" tIns="0" rIns="0" bIns="0" anchor="t">
            <a:noAutofit/>
          </a:bodyPr>
          <a:lstStyle>
            <a:defPPr algn="l">
              <a:defRPr sz="3600" b="1">
                <a:solidFill>
                  <a:srgbClr val="152D34"/>
                </a:solidFill>
                <a:latin typeface="DejaVu Sans"/>
                <a:ea typeface="DejaVu Sans"/>
                <a:cs typeface="DejaVu Sans"/>
              </a:defRPr>
            </a:defPPr>
            <a:lvl1pPr algn="l">
              <a:buNone/>
              <a:defRPr sz="3600" b="1">
                <a:solidFill>
                  <a:srgbClr val="152D34"/>
                </a:solidFill>
                <a:latin typeface="DejaVu Sans"/>
                <a:ea typeface="DejaVu Sans"/>
                <a:cs typeface="DejaVu Sans"/>
              </a:defRPr>
            </a:lvl1pPr>
            <a:lvl2pPr algn="l">
              <a:buNone/>
              <a:defRPr sz="3600" b="1">
                <a:solidFill>
                  <a:srgbClr val="152D34"/>
                </a:solidFill>
                <a:latin typeface="DejaVu Sans"/>
                <a:ea typeface="DejaVu Sans"/>
                <a:cs typeface="DejaVu Sans"/>
              </a:defRPr>
            </a:lvl2pPr>
            <a:lvl3pPr algn="l">
              <a:buNone/>
              <a:defRPr sz="3600" b="1">
                <a:solidFill>
                  <a:srgbClr val="152D34"/>
                </a:solidFill>
                <a:latin typeface="DejaVu Sans"/>
                <a:ea typeface="DejaVu Sans"/>
                <a:cs typeface="DejaVu Sans"/>
              </a:defRPr>
            </a:lvl3pPr>
            <a:lvl4pPr algn="l">
              <a:buNone/>
              <a:defRPr sz="3600" b="1">
                <a:solidFill>
                  <a:srgbClr val="152D34"/>
                </a:solidFill>
                <a:latin typeface="DejaVu Sans"/>
                <a:ea typeface="DejaVu Sans"/>
                <a:cs typeface="DejaVu Sans"/>
              </a:defRPr>
            </a:lvl4pPr>
            <a:lvl5pPr algn="l">
              <a:buNone/>
              <a:defRPr sz="3600" b="1">
                <a:solidFill>
                  <a:srgbClr val="152D34"/>
                </a:solidFill>
                <a:latin typeface="DejaVu Sans"/>
                <a:ea typeface="DejaVu Sans"/>
                <a:cs typeface="DejaVu Sans"/>
              </a:defRPr>
            </a:lvl5pPr>
            <a:lvl6pPr algn="l">
              <a:buNone/>
              <a:defRPr sz="3600" b="1">
                <a:solidFill>
                  <a:srgbClr val="152D34"/>
                </a:solidFill>
                <a:latin typeface="DejaVu Sans"/>
                <a:ea typeface="DejaVu Sans"/>
                <a:cs typeface="DejaVu Sans"/>
              </a:defRPr>
            </a:lvl6pPr>
            <a:lvl7pPr algn="l">
              <a:buNone/>
              <a:defRPr sz="3600" b="1">
                <a:solidFill>
                  <a:srgbClr val="152D34"/>
                </a:solidFill>
                <a:latin typeface="DejaVu Sans"/>
                <a:ea typeface="DejaVu Sans"/>
                <a:cs typeface="DejaVu Sans"/>
              </a:defRPr>
            </a:lvl7pPr>
            <a:lvl8pPr algn="l">
              <a:buNone/>
              <a:defRPr sz="3600" b="1">
                <a:solidFill>
                  <a:srgbClr val="152D34"/>
                </a:solidFill>
                <a:latin typeface="DejaVu Sans"/>
                <a:ea typeface="DejaVu Sans"/>
                <a:cs typeface="DejaVu Sans"/>
              </a:defRPr>
            </a:lvl8pPr>
            <a:lvl9pPr algn="l">
              <a:buNone/>
              <a:defRPr sz="3600" b="1">
                <a:solidFill>
                  <a:srgbClr val="152D34"/>
                </a:solidFill>
                <a:latin typeface="DejaVu Sans"/>
                <a:ea typeface="DejaVu Sans"/>
                <a:cs typeface="DejaVu Sans"/>
              </a:defRPr>
            </a:lvl9pPr>
          </a:lstStyle>
          <a:p>
            <a:pPr algn="ctr">
              <a:lnSpc>
                <a:spcPct val="112000"/>
              </a:lnSpc>
              <a:buNone/>
              <a:defRPr sz="3600" b="1">
                <a:solidFill>
                  <a:srgbClr val="152D34"/>
                </a:solidFill>
                <a:latin typeface="DejaVu Sans"/>
                <a:ea typeface="DejaVu Sans"/>
                <a:cs typeface="DejaVu Sans"/>
              </a:defRPr>
            </a:pPr>
            <a:r>
              <a:rPr sz="4000" b="1" dirty="0">
                <a:solidFill>
                  <a:srgbClr val="152D34"/>
                </a:solidFill>
                <a:latin typeface="Century Gothic" panose="020B0502020202020204" pitchFamily="34" charset="0"/>
              </a:rPr>
              <a:t>The </a:t>
            </a:r>
            <a:r>
              <a:rPr sz="4000" b="1" dirty="0" err="1">
                <a:solidFill>
                  <a:srgbClr val="152D34"/>
                </a:solidFill>
                <a:latin typeface="Century Gothic" panose="020B0502020202020204" pitchFamily="34" charset="0"/>
              </a:rPr>
              <a:t>Clinejection</a:t>
            </a:r>
            <a:r>
              <a:rPr sz="4000" b="1" dirty="0">
                <a:solidFill>
                  <a:srgbClr val="152D34"/>
                </a:solidFill>
                <a:latin typeface="Century Gothic" panose="020B0502020202020204" pitchFamily="34" charset="0"/>
              </a:rPr>
              <a:t> </a:t>
            </a:r>
            <a:r>
              <a:rPr lang="en-CA" sz="4000" b="1" dirty="0">
                <a:solidFill>
                  <a:srgbClr val="152D34"/>
                </a:solidFill>
                <a:latin typeface="Century Gothic" panose="020B0502020202020204" pitchFamily="34" charset="0"/>
              </a:rPr>
              <a:t>I</a:t>
            </a:r>
            <a:r>
              <a:rPr sz="4000" b="1" dirty="0" err="1">
                <a:solidFill>
                  <a:srgbClr val="152D34"/>
                </a:solidFill>
                <a:latin typeface="Century Gothic" panose="020B0502020202020204" pitchFamily="34" charset="0"/>
              </a:rPr>
              <a:t>ncident</a:t>
            </a:r>
            <a:endParaRPr sz="4000" b="1" dirty="0">
              <a:solidFill>
                <a:srgbClr val="152D34"/>
              </a:solidFill>
              <a:latin typeface="Century Gothic" panose="020B0502020202020204" pitchFamily="34" charset="0"/>
            </a:endParaRPr>
          </a:p>
        </p:txBody>
      </p:sp>
      <p:sp>
        <p:nvSpPr>
          <p:cNvPr id="2" name="date-1">
            <a:extLst>
              <a:ext uri="{FF2B5EF4-FFF2-40B4-BE49-F238E27FC236}">
                <a16:creationId xmlns:a16="http://schemas.microsoft.com/office/drawing/2014/main" id="{BB82AD81-57B2-49E7-A5F3-5B63A65B5E3D}"/>
              </a:ext>
            </a:extLst>
          </p:cNvPr>
          <p:cNvSpPr>
            <a:spLocks noGrp="1"/>
          </p:cNvSpPr>
          <p:nvPr/>
        </p:nvSpPr>
        <p:spPr>
          <a:xfrm>
            <a:off x="723900" y="1762125"/>
            <a:ext cx="4953000" cy="666750"/>
          </a:xfrm>
          <a:prstGeom prst="rect">
            <a:avLst/>
          </a:prstGeom>
          <a:noFill/>
          <a:ln w="0">
            <a:noFill/>
            <a:prstDash val="solid"/>
          </a:ln>
        </p:spPr>
        <p:txBody>
          <a:bodyPr wrap="square" lIns="0" tIns="0" rIns="0" bIns="0" anchor="t">
            <a:noAutofit/>
          </a:bodyPr>
          <a:lstStyle>
            <a:defPPr algn="l">
              <a:defRPr sz="2925" b="1">
                <a:solidFill>
                  <a:srgbClr val="007F78"/>
                </a:solidFill>
                <a:latin typeface="DejaVu Sans"/>
                <a:ea typeface="DejaVu Sans"/>
                <a:cs typeface="DejaVu Sans"/>
              </a:defRPr>
            </a:defPPr>
            <a:lvl1pPr algn="l">
              <a:buNone/>
              <a:defRPr sz="2925" b="1">
                <a:solidFill>
                  <a:srgbClr val="007F78"/>
                </a:solidFill>
                <a:latin typeface="DejaVu Sans"/>
                <a:ea typeface="DejaVu Sans"/>
                <a:cs typeface="DejaVu Sans"/>
              </a:defRPr>
            </a:lvl1pPr>
            <a:lvl2pPr algn="l">
              <a:buNone/>
              <a:defRPr sz="2925" b="1">
                <a:solidFill>
                  <a:srgbClr val="007F78"/>
                </a:solidFill>
                <a:latin typeface="DejaVu Sans"/>
                <a:ea typeface="DejaVu Sans"/>
                <a:cs typeface="DejaVu Sans"/>
              </a:defRPr>
            </a:lvl2pPr>
            <a:lvl3pPr algn="l">
              <a:buNone/>
              <a:defRPr sz="2925" b="1">
                <a:solidFill>
                  <a:srgbClr val="007F78"/>
                </a:solidFill>
                <a:latin typeface="DejaVu Sans"/>
                <a:ea typeface="DejaVu Sans"/>
                <a:cs typeface="DejaVu Sans"/>
              </a:defRPr>
            </a:lvl3pPr>
            <a:lvl4pPr algn="l">
              <a:buNone/>
              <a:defRPr sz="2925" b="1">
                <a:solidFill>
                  <a:srgbClr val="007F78"/>
                </a:solidFill>
                <a:latin typeface="DejaVu Sans"/>
                <a:ea typeface="DejaVu Sans"/>
                <a:cs typeface="DejaVu Sans"/>
              </a:defRPr>
            </a:lvl4pPr>
            <a:lvl5pPr algn="l">
              <a:buNone/>
              <a:defRPr sz="2925" b="1">
                <a:solidFill>
                  <a:srgbClr val="007F78"/>
                </a:solidFill>
                <a:latin typeface="DejaVu Sans"/>
                <a:ea typeface="DejaVu Sans"/>
                <a:cs typeface="DejaVu Sans"/>
              </a:defRPr>
            </a:lvl5pPr>
            <a:lvl6pPr algn="l">
              <a:buNone/>
              <a:defRPr sz="2925" b="1">
                <a:solidFill>
                  <a:srgbClr val="007F78"/>
                </a:solidFill>
                <a:latin typeface="DejaVu Sans"/>
                <a:ea typeface="DejaVu Sans"/>
                <a:cs typeface="DejaVu Sans"/>
              </a:defRPr>
            </a:lvl6pPr>
            <a:lvl7pPr algn="l">
              <a:buNone/>
              <a:defRPr sz="2925" b="1">
                <a:solidFill>
                  <a:srgbClr val="007F78"/>
                </a:solidFill>
                <a:latin typeface="DejaVu Sans"/>
                <a:ea typeface="DejaVu Sans"/>
                <a:cs typeface="DejaVu Sans"/>
              </a:defRPr>
            </a:lvl7pPr>
            <a:lvl8pPr algn="l">
              <a:buNone/>
              <a:defRPr sz="2925" b="1">
                <a:solidFill>
                  <a:srgbClr val="007F78"/>
                </a:solidFill>
                <a:latin typeface="DejaVu Sans"/>
                <a:ea typeface="DejaVu Sans"/>
                <a:cs typeface="DejaVu Sans"/>
              </a:defRPr>
            </a:lvl8pPr>
            <a:lvl9pPr algn="l">
              <a:buNone/>
              <a:defRPr sz="2925" b="1">
                <a:solidFill>
                  <a:srgbClr val="007F78"/>
                </a:solidFill>
                <a:latin typeface="DejaVu Sans"/>
                <a:ea typeface="DejaVu Sans"/>
                <a:cs typeface="DejaVu Sans"/>
              </a:defRPr>
            </a:lvl9pPr>
          </a:lstStyle>
          <a:p>
            <a:pPr algn="l">
              <a:lnSpc>
                <a:spcPct val="112000"/>
              </a:lnSpc>
              <a:buNone/>
              <a:defRPr sz="2925" b="1">
                <a:solidFill>
                  <a:srgbClr val="007F78"/>
                </a:solidFill>
                <a:latin typeface="DejaVu Sans"/>
                <a:ea typeface="DejaVu Sans"/>
                <a:cs typeface="DejaVu Sans"/>
              </a:defRPr>
            </a:pPr>
            <a:r>
              <a:rPr sz="3200" b="1" dirty="0">
                <a:solidFill>
                  <a:srgbClr val="007F78"/>
                </a:solidFill>
                <a:latin typeface="Century Gothic" panose="020B0502020202020204" pitchFamily="34" charset="0"/>
              </a:rPr>
              <a:t>9 February 2026</a:t>
            </a:r>
          </a:p>
        </p:txBody>
      </p:sp>
      <p:sp>
        <p:nvSpPr>
          <p:cNvPr id="3" name="event-1">
            <a:extLst>
              <a:ext uri="{FF2B5EF4-FFF2-40B4-BE49-F238E27FC236}">
                <a16:creationId xmlns:a16="http://schemas.microsoft.com/office/drawing/2014/main" id="{F02CEBCC-4C8A-4C2C-894C-C13A2DA1E264}"/>
              </a:ext>
            </a:extLst>
          </p:cNvPr>
          <p:cNvSpPr>
            <a:spLocks noGrp="1"/>
          </p:cNvSpPr>
          <p:nvPr/>
        </p:nvSpPr>
        <p:spPr>
          <a:xfrm>
            <a:off x="723900" y="2590800"/>
            <a:ext cx="5048250" cy="1619250"/>
          </a:xfrm>
          <a:prstGeom prst="rect">
            <a:avLst/>
          </a:prstGeom>
          <a:noFill/>
          <a:ln w="0">
            <a:noFill/>
            <a:prstDash val="solid"/>
          </a:ln>
        </p:spPr>
        <p:txBody>
          <a:bodyPr wrap="square" lIns="0" tIns="0" rIns="0" bIns="0" anchor="t">
            <a:noAutofit/>
          </a:bodyPr>
          <a:lstStyle>
            <a:defPPr algn="l">
              <a:defRPr sz="2025" b="0">
                <a:solidFill>
                  <a:srgbClr val="152D34"/>
                </a:solidFill>
                <a:latin typeface="DejaVu Sans"/>
                <a:ea typeface="DejaVu Sans"/>
                <a:cs typeface="DejaVu Sans"/>
              </a:defRPr>
            </a:defPPr>
            <a:lvl1pPr algn="l">
              <a:buNone/>
              <a:defRPr sz="2025" b="0">
                <a:solidFill>
                  <a:srgbClr val="152D34"/>
                </a:solidFill>
                <a:latin typeface="DejaVu Sans"/>
                <a:ea typeface="DejaVu Sans"/>
                <a:cs typeface="DejaVu Sans"/>
              </a:defRPr>
            </a:lvl1pPr>
            <a:lvl2pPr algn="l">
              <a:buNone/>
              <a:defRPr sz="2025" b="0">
                <a:solidFill>
                  <a:srgbClr val="152D34"/>
                </a:solidFill>
                <a:latin typeface="DejaVu Sans"/>
                <a:ea typeface="DejaVu Sans"/>
                <a:cs typeface="DejaVu Sans"/>
              </a:defRPr>
            </a:lvl2pPr>
            <a:lvl3pPr algn="l">
              <a:buNone/>
              <a:defRPr sz="2025" b="0">
                <a:solidFill>
                  <a:srgbClr val="152D34"/>
                </a:solidFill>
                <a:latin typeface="DejaVu Sans"/>
                <a:ea typeface="DejaVu Sans"/>
                <a:cs typeface="DejaVu Sans"/>
              </a:defRPr>
            </a:lvl3pPr>
            <a:lvl4pPr algn="l">
              <a:buNone/>
              <a:defRPr sz="2025" b="0">
                <a:solidFill>
                  <a:srgbClr val="152D34"/>
                </a:solidFill>
                <a:latin typeface="DejaVu Sans"/>
                <a:ea typeface="DejaVu Sans"/>
                <a:cs typeface="DejaVu Sans"/>
              </a:defRPr>
            </a:lvl4pPr>
            <a:lvl5pPr algn="l">
              <a:buNone/>
              <a:defRPr sz="2025" b="0">
                <a:solidFill>
                  <a:srgbClr val="152D34"/>
                </a:solidFill>
                <a:latin typeface="DejaVu Sans"/>
                <a:ea typeface="DejaVu Sans"/>
                <a:cs typeface="DejaVu Sans"/>
              </a:defRPr>
            </a:lvl5pPr>
            <a:lvl6pPr algn="l">
              <a:buNone/>
              <a:defRPr sz="2025" b="0">
                <a:solidFill>
                  <a:srgbClr val="152D34"/>
                </a:solidFill>
                <a:latin typeface="DejaVu Sans"/>
                <a:ea typeface="DejaVu Sans"/>
                <a:cs typeface="DejaVu Sans"/>
              </a:defRPr>
            </a:lvl6pPr>
            <a:lvl7pPr algn="l">
              <a:buNone/>
              <a:defRPr sz="2025" b="0">
                <a:solidFill>
                  <a:srgbClr val="152D34"/>
                </a:solidFill>
                <a:latin typeface="DejaVu Sans"/>
                <a:ea typeface="DejaVu Sans"/>
                <a:cs typeface="DejaVu Sans"/>
              </a:defRPr>
            </a:lvl7pPr>
            <a:lvl8pPr algn="l">
              <a:buNone/>
              <a:defRPr sz="2025" b="0">
                <a:solidFill>
                  <a:srgbClr val="152D34"/>
                </a:solidFill>
                <a:latin typeface="DejaVu Sans"/>
                <a:ea typeface="DejaVu Sans"/>
                <a:cs typeface="DejaVu Sans"/>
              </a:defRPr>
            </a:lvl8pPr>
            <a:lvl9pPr algn="l">
              <a:buNone/>
              <a:defRPr sz="2025" b="0">
                <a:solidFill>
                  <a:srgbClr val="152D34"/>
                </a:solidFill>
                <a:latin typeface="DejaVu Sans"/>
                <a:ea typeface="DejaVu Sans"/>
                <a:cs typeface="DejaVu Sans"/>
              </a:defRPr>
            </a:lvl9pPr>
          </a:lstStyle>
          <a:p>
            <a:pPr algn="l">
              <a:lnSpc>
                <a:spcPct val="112000"/>
              </a:lnSpc>
              <a:buNone/>
              <a:defRPr sz="2025" b="0">
                <a:solidFill>
                  <a:srgbClr val="152D34"/>
                </a:solidFill>
                <a:latin typeface="DejaVu Sans"/>
                <a:ea typeface="DejaVu Sans"/>
                <a:cs typeface="DejaVu Sans"/>
              </a:defRPr>
            </a:pPr>
            <a:r>
              <a:rPr sz="2400" b="0" dirty="0">
                <a:solidFill>
                  <a:srgbClr val="152D34"/>
                </a:solidFill>
                <a:latin typeface="Century Gothic" panose="020B0502020202020204" pitchFamily="34" charset="0"/>
              </a:rPr>
              <a:t>Cline removed the vulnerable</a:t>
            </a:r>
          </a:p>
          <a:p>
            <a:pPr algn="l">
              <a:lnSpc>
                <a:spcPct val="112000"/>
              </a:lnSpc>
              <a:buNone/>
              <a:defRPr sz="2025" b="0">
                <a:solidFill>
                  <a:srgbClr val="152D34"/>
                </a:solidFill>
                <a:latin typeface="DejaVu Sans"/>
                <a:ea typeface="DejaVu Sans"/>
                <a:cs typeface="DejaVu Sans"/>
              </a:defRPr>
            </a:pPr>
            <a:r>
              <a:rPr sz="2400" b="0" dirty="0">
                <a:solidFill>
                  <a:srgbClr val="152D34"/>
                </a:solidFill>
                <a:latin typeface="Century Gothic" panose="020B0502020202020204" pitchFamily="34" charset="0"/>
              </a:rPr>
              <a:t>workflows. One exposed publishing</a:t>
            </a:r>
          </a:p>
          <a:p>
            <a:pPr algn="l">
              <a:lnSpc>
                <a:spcPct val="112000"/>
              </a:lnSpc>
              <a:buNone/>
              <a:defRPr sz="2025" b="0">
                <a:solidFill>
                  <a:srgbClr val="152D34"/>
                </a:solidFill>
                <a:latin typeface="DejaVu Sans"/>
                <a:ea typeface="DejaVu Sans"/>
                <a:cs typeface="DejaVu Sans"/>
              </a:defRPr>
            </a:pPr>
            <a:r>
              <a:rPr sz="2400" b="0" dirty="0">
                <a:solidFill>
                  <a:srgbClr val="152D34"/>
                </a:solidFill>
                <a:latin typeface="Century Gothic" panose="020B0502020202020204" pitchFamily="34" charset="0"/>
              </a:rPr>
              <a:t>token remained active.</a:t>
            </a:r>
          </a:p>
        </p:txBody>
      </p:sp>
      <p:sp>
        <p:nvSpPr>
          <p:cNvPr id="4" name="date-2">
            <a:extLst>
              <a:ext uri="{FF2B5EF4-FFF2-40B4-BE49-F238E27FC236}">
                <a16:creationId xmlns:a16="http://schemas.microsoft.com/office/drawing/2014/main" id="{56B5B5FB-FF3E-4071-BADB-88F68C3B74C6}"/>
              </a:ext>
            </a:extLst>
          </p:cNvPr>
          <p:cNvSpPr>
            <a:spLocks noGrp="1"/>
          </p:cNvSpPr>
          <p:nvPr/>
        </p:nvSpPr>
        <p:spPr>
          <a:xfrm>
            <a:off x="6477000" y="1762125"/>
            <a:ext cx="4991100" cy="666750"/>
          </a:xfrm>
          <a:prstGeom prst="rect">
            <a:avLst/>
          </a:prstGeom>
          <a:noFill/>
          <a:ln w="0">
            <a:noFill/>
            <a:prstDash val="solid"/>
          </a:ln>
        </p:spPr>
        <p:txBody>
          <a:bodyPr wrap="square" lIns="0" tIns="0" rIns="0" bIns="0" anchor="t">
            <a:noAutofit/>
          </a:bodyPr>
          <a:lstStyle>
            <a:defPPr algn="l">
              <a:defRPr sz="2925" b="1">
                <a:solidFill>
                  <a:srgbClr val="B26324"/>
                </a:solidFill>
                <a:latin typeface="DejaVu Sans"/>
                <a:ea typeface="DejaVu Sans"/>
                <a:cs typeface="DejaVu Sans"/>
              </a:defRPr>
            </a:defPPr>
            <a:lvl1pPr algn="l">
              <a:buNone/>
              <a:defRPr sz="2925" b="1">
                <a:solidFill>
                  <a:srgbClr val="B26324"/>
                </a:solidFill>
                <a:latin typeface="DejaVu Sans"/>
                <a:ea typeface="DejaVu Sans"/>
                <a:cs typeface="DejaVu Sans"/>
              </a:defRPr>
            </a:lvl1pPr>
            <a:lvl2pPr algn="l">
              <a:buNone/>
              <a:defRPr sz="2925" b="1">
                <a:solidFill>
                  <a:srgbClr val="B26324"/>
                </a:solidFill>
                <a:latin typeface="DejaVu Sans"/>
                <a:ea typeface="DejaVu Sans"/>
                <a:cs typeface="DejaVu Sans"/>
              </a:defRPr>
            </a:lvl2pPr>
            <a:lvl3pPr algn="l">
              <a:buNone/>
              <a:defRPr sz="2925" b="1">
                <a:solidFill>
                  <a:srgbClr val="B26324"/>
                </a:solidFill>
                <a:latin typeface="DejaVu Sans"/>
                <a:ea typeface="DejaVu Sans"/>
                <a:cs typeface="DejaVu Sans"/>
              </a:defRPr>
            </a:lvl3pPr>
            <a:lvl4pPr algn="l">
              <a:buNone/>
              <a:defRPr sz="2925" b="1">
                <a:solidFill>
                  <a:srgbClr val="B26324"/>
                </a:solidFill>
                <a:latin typeface="DejaVu Sans"/>
                <a:ea typeface="DejaVu Sans"/>
                <a:cs typeface="DejaVu Sans"/>
              </a:defRPr>
            </a:lvl4pPr>
            <a:lvl5pPr algn="l">
              <a:buNone/>
              <a:defRPr sz="2925" b="1">
                <a:solidFill>
                  <a:srgbClr val="B26324"/>
                </a:solidFill>
                <a:latin typeface="DejaVu Sans"/>
                <a:ea typeface="DejaVu Sans"/>
                <a:cs typeface="DejaVu Sans"/>
              </a:defRPr>
            </a:lvl5pPr>
            <a:lvl6pPr algn="l">
              <a:buNone/>
              <a:defRPr sz="2925" b="1">
                <a:solidFill>
                  <a:srgbClr val="B26324"/>
                </a:solidFill>
                <a:latin typeface="DejaVu Sans"/>
                <a:ea typeface="DejaVu Sans"/>
                <a:cs typeface="DejaVu Sans"/>
              </a:defRPr>
            </a:lvl6pPr>
            <a:lvl7pPr algn="l">
              <a:buNone/>
              <a:defRPr sz="2925" b="1">
                <a:solidFill>
                  <a:srgbClr val="B26324"/>
                </a:solidFill>
                <a:latin typeface="DejaVu Sans"/>
                <a:ea typeface="DejaVu Sans"/>
                <a:cs typeface="DejaVu Sans"/>
              </a:defRPr>
            </a:lvl7pPr>
            <a:lvl8pPr algn="l">
              <a:buNone/>
              <a:defRPr sz="2925" b="1">
                <a:solidFill>
                  <a:srgbClr val="B26324"/>
                </a:solidFill>
                <a:latin typeface="DejaVu Sans"/>
                <a:ea typeface="DejaVu Sans"/>
                <a:cs typeface="DejaVu Sans"/>
              </a:defRPr>
            </a:lvl8pPr>
            <a:lvl9pPr algn="l">
              <a:buNone/>
              <a:defRPr sz="2925" b="1">
                <a:solidFill>
                  <a:srgbClr val="B26324"/>
                </a:solidFill>
                <a:latin typeface="DejaVu Sans"/>
                <a:ea typeface="DejaVu Sans"/>
                <a:cs typeface="DejaVu Sans"/>
              </a:defRPr>
            </a:lvl9pPr>
          </a:lstStyle>
          <a:p>
            <a:pPr algn="l">
              <a:lnSpc>
                <a:spcPct val="112000"/>
              </a:lnSpc>
              <a:buNone/>
              <a:defRPr sz="2925" b="1">
                <a:solidFill>
                  <a:srgbClr val="B26324"/>
                </a:solidFill>
                <a:latin typeface="DejaVu Sans"/>
                <a:ea typeface="DejaVu Sans"/>
                <a:cs typeface="DejaVu Sans"/>
              </a:defRPr>
            </a:pPr>
            <a:r>
              <a:rPr sz="3200" b="1" dirty="0">
                <a:solidFill>
                  <a:srgbClr val="B26324"/>
                </a:solidFill>
                <a:latin typeface="Century Gothic" panose="020B0502020202020204" pitchFamily="34" charset="0"/>
              </a:rPr>
              <a:t>17 February 2026</a:t>
            </a:r>
          </a:p>
        </p:txBody>
      </p:sp>
      <p:sp>
        <p:nvSpPr>
          <p:cNvPr id="5" name="event-2">
            <a:extLst>
              <a:ext uri="{FF2B5EF4-FFF2-40B4-BE49-F238E27FC236}">
                <a16:creationId xmlns:a16="http://schemas.microsoft.com/office/drawing/2014/main" id="{EFCEAC8C-7B1E-45A4-81EA-CAB0431F300B}"/>
              </a:ext>
            </a:extLst>
          </p:cNvPr>
          <p:cNvSpPr>
            <a:spLocks noGrp="1"/>
          </p:cNvSpPr>
          <p:nvPr/>
        </p:nvSpPr>
        <p:spPr>
          <a:xfrm>
            <a:off x="6477000" y="2590800"/>
            <a:ext cx="4991100" cy="1476375"/>
          </a:xfrm>
          <a:prstGeom prst="rect">
            <a:avLst/>
          </a:prstGeom>
          <a:noFill/>
          <a:ln w="0">
            <a:noFill/>
            <a:prstDash val="solid"/>
          </a:ln>
        </p:spPr>
        <p:txBody>
          <a:bodyPr wrap="square" lIns="0" tIns="0" rIns="0" bIns="0" anchor="t">
            <a:noAutofit/>
          </a:bodyPr>
          <a:lstStyle>
            <a:defPPr algn="l">
              <a:defRPr sz="2025" b="0">
                <a:solidFill>
                  <a:srgbClr val="152D34"/>
                </a:solidFill>
                <a:latin typeface="DejaVu Sans"/>
                <a:ea typeface="DejaVu Sans"/>
                <a:cs typeface="DejaVu Sans"/>
              </a:defRPr>
            </a:defPPr>
            <a:lvl1pPr algn="l">
              <a:buNone/>
              <a:defRPr sz="2025" b="0">
                <a:solidFill>
                  <a:srgbClr val="152D34"/>
                </a:solidFill>
                <a:latin typeface="DejaVu Sans"/>
                <a:ea typeface="DejaVu Sans"/>
                <a:cs typeface="DejaVu Sans"/>
              </a:defRPr>
            </a:lvl1pPr>
            <a:lvl2pPr algn="l">
              <a:buNone/>
              <a:defRPr sz="2025" b="0">
                <a:solidFill>
                  <a:srgbClr val="152D34"/>
                </a:solidFill>
                <a:latin typeface="DejaVu Sans"/>
                <a:ea typeface="DejaVu Sans"/>
                <a:cs typeface="DejaVu Sans"/>
              </a:defRPr>
            </a:lvl2pPr>
            <a:lvl3pPr algn="l">
              <a:buNone/>
              <a:defRPr sz="2025" b="0">
                <a:solidFill>
                  <a:srgbClr val="152D34"/>
                </a:solidFill>
                <a:latin typeface="DejaVu Sans"/>
                <a:ea typeface="DejaVu Sans"/>
                <a:cs typeface="DejaVu Sans"/>
              </a:defRPr>
            </a:lvl3pPr>
            <a:lvl4pPr algn="l">
              <a:buNone/>
              <a:defRPr sz="2025" b="0">
                <a:solidFill>
                  <a:srgbClr val="152D34"/>
                </a:solidFill>
                <a:latin typeface="DejaVu Sans"/>
                <a:ea typeface="DejaVu Sans"/>
                <a:cs typeface="DejaVu Sans"/>
              </a:defRPr>
            </a:lvl4pPr>
            <a:lvl5pPr algn="l">
              <a:buNone/>
              <a:defRPr sz="2025" b="0">
                <a:solidFill>
                  <a:srgbClr val="152D34"/>
                </a:solidFill>
                <a:latin typeface="DejaVu Sans"/>
                <a:ea typeface="DejaVu Sans"/>
                <a:cs typeface="DejaVu Sans"/>
              </a:defRPr>
            </a:lvl5pPr>
            <a:lvl6pPr algn="l">
              <a:buNone/>
              <a:defRPr sz="2025" b="0">
                <a:solidFill>
                  <a:srgbClr val="152D34"/>
                </a:solidFill>
                <a:latin typeface="DejaVu Sans"/>
                <a:ea typeface="DejaVu Sans"/>
                <a:cs typeface="DejaVu Sans"/>
              </a:defRPr>
            </a:lvl6pPr>
            <a:lvl7pPr algn="l">
              <a:buNone/>
              <a:defRPr sz="2025" b="0">
                <a:solidFill>
                  <a:srgbClr val="152D34"/>
                </a:solidFill>
                <a:latin typeface="DejaVu Sans"/>
                <a:ea typeface="DejaVu Sans"/>
                <a:cs typeface="DejaVu Sans"/>
              </a:defRPr>
            </a:lvl7pPr>
            <a:lvl8pPr algn="l">
              <a:buNone/>
              <a:defRPr sz="2025" b="0">
                <a:solidFill>
                  <a:srgbClr val="152D34"/>
                </a:solidFill>
                <a:latin typeface="DejaVu Sans"/>
                <a:ea typeface="DejaVu Sans"/>
                <a:cs typeface="DejaVu Sans"/>
              </a:defRPr>
            </a:lvl8pPr>
            <a:lvl9pPr algn="l">
              <a:buNone/>
              <a:defRPr sz="2025" b="0">
                <a:solidFill>
                  <a:srgbClr val="152D34"/>
                </a:solidFill>
                <a:latin typeface="DejaVu Sans"/>
                <a:ea typeface="DejaVu Sans"/>
                <a:cs typeface="DejaVu Sans"/>
              </a:defRPr>
            </a:lvl9pPr>
          </a:lstStyle>
          <a:p>
            <a:pPr algn="l">
              <a:lnSpc>
                <a:spcPct val="112000"/>
              </a:lnSpc>
              <a:buNone/>
              <a:defRPr sz="2025" b="0">
                <a:solidFill>
                  <a:srgbClr val="152D34"/>
                </a:solidFill>
                <a:latin typeface="DejaVu Sans"/>
                <a:ea typeface="DejaVu Sans"/>
                <a:cs typeface="DejaVu Sans"/>
              </a:defRPr>
            </a:pPr>
            <a:r>
              <a:rPr sz="2400" b="0" dirty="0">
                <a:solidFill>
                  <a:srgbClr val="152D34"/>
                </a:solidFill>
                <a:latin typeface="Century Gothic" panose="020B0502020202020204" pitchFamily="34" charset="0"/>
              </a:rPr>
              <a:t>An attacker published an</a:t>
            </a:r>
          </a:p>
          <a:p>
            <a:pPr algn="l">
              <a:lnSpc>
                <a:spcPct val="112000"/>
              </a:lnSpc>
              <a:buNone/>
              <a:defRPr sz="2025" b="0">
                <a:solidFill>
                  <a:srgbClr val="152D34"/>
                </a:solidFill>
                <a:latin typeface="DejaVu Sans"/>
                <a:ea typeface="DejaVu Sans"/>
                <a:cs typeface="DejaVu Sans"/>
              </a:defRPr>
            </a:pPr>
            <a:r>
              <a:rPr sz="2400" b="0" dirty="0">
                <a:solidFill>
                  <a:srgbClr val="152D34"/>
                </a:solidFill>
                <a:latin typeface="Century Gothic" panose="020B0502020202020204" pitchFamily="34" charset="0"/>
              </a:rPr>
              <a:t>unauthorized CLI package</a:t>
            </a:r>
          </a:p>
          <a:p>
            <a:pPr algn="l">
              <a:lnSpc>
                <a:spcPct val="112000"/>
              </a:lnSpc>
              <a:buNone/>
              <a:defRPr sz="2025" b="0">
                <a:solidFill>
                  <a:srgbClr val="152D34"/>
                </a:solidFill>
                <a:latin typeface="DejaVu Sans"/>
                <a:ea typeface="DejaVu Sans"/>
                <a:cs typeface="DejaVu Sans"/>
              </a:defRPr>
            </a:pPr>
            <a:r>
              <a:rPr sz="2400" b="0" dirty="0">
                <a:solidFill>
                  <a:srgbClr val="152D34"/>
                </a:solidFill>
                <a:latin typeface="Century Gothic" panose="020B0502020202020204" pitchFamily="34" charset="0"/>
              </a:rPr>
              <a:t>that installed OpenClaw.</a:t>
            </a:r>
          </a:p>
        </p:txBody>
      </p:sp>
      <p:sp>
        <p:nvSpPr>
          <p:cNvPr id="6" name="impact-label">
            <a:extLst>
              <a:ext uri="{FF2B5EF4-FFF2-40B4-BE49-F238E27FC236}">
                <a16:creationId xmlns:a16="http://schemas.microsoft.com/office/drawing/2014/main" id="{CA840976-2D9F-44F2-8123-AA7BEE517B4D}"/>
              </a:ext>
            </a:extLst>
          </p:cNvPr>
          <p:cNvSpPr>
            <a:spLocks noGrp="1"/>
          </p:cNvSpPr>
          <p:nvPr/>
        </p:nvSpPr>
        <p:spPr>
          <a:xfrm>
            <a:off x="723900" y="4476750"/>
            <a:ext cx="10744200" cy="428625"/>
          </a:xfrm>
          <a:prstGeom prst="rect">
            <a:avLst/>
          </a:prstGeom>
          <a:noFill/>
          <a:ln w="0">
            <a:noFill/>
            <a:prstDash val="solid"/>
          </a:ln>
        </p:spPr>
        <p:txBody>
          <a:bodyPr wrap="square" lIns="0" tIns="0" rIns="0" bIns="0" anchor="t">
            <a:noAutofit/>
          </a:bodyPr>
          <a:lstStyle>
            <a:defPPr algn="l">
              <a:defRPr sz="2025" b="1">
                <a:solidFill>
                  <a:srgbClr val="007F78"/>
                </a:solidFill>
                <a:latin typeface="DejaVu Sans"/>
                <a:ea typeface="DejaVu Sans"/>
                <a:cs typeface="DejaVu Sans"/>
              </a:defRPr>
            </a:defPPr>
            <a:lvl1pPr algn="l">
              <a:buNone/>
              <a:defRPr sz="2025" b="1">
                <a:solidFill>
                  <a:srgbClr val="007F78"/>
                </a:solidFill>
                <a:latin typeface="DejaVu Sans"/>
                <a:ea typeface="DejaVu Sans"/>
                <a:cs typeface="DejaVu Sans"/>
              </a:defRPr>
            </a:lvl1pPr>
            <a:lvl2pPr algn="l">
              <a:buNone/>
              <a:defRPr sz="2025" b="1">
                <a:solidFill>
                  <a:srgbClr val="007F78"/>
                </a:solidFill>
                <a:latin typeface="DejaVu Sans"/>
                <a:ea typeface="DejaVu Sans"/>
                <a:cs typeface="DejaVu Sans"/>
              </a:defRPr>
            </a:lvl2pPr>
            <a:lvl3pPr algn="l">
              <a:buNone/>
              <a:defRPr sz="2025" b="1">
                <a:solidFill>
                  <a:srgbClr val="007F78"/>
                </a:solidFill>
                <a:latin typeface="DejaVu Sans"/>
                <a:ea typeface="DejaVu Sans"/>
                <a:cs typeface="DejaVu Sans"/>
              </a:defRPr>
            </a:lvl3pPr>
            <a:lvl4pPr algn="l">
              <a:buNone/>
              <a:defRPr sz="2025" b="1">
                <a:solidFill>
                  <a:srgbClr val="007F78"/>
                </a:solidFill>
                <a:latin typeface="DejaVu Sans"/>
                <a:ea typeface="DejaVu Sans"/>
                <a:cs typeface="DejaVu Sans"/>
              </a:defRPr>
            </a:lvl4pPr>
            <a:lvl5pPr algn="l">
              <a:buNone/>
              <a:defRPr sz="2025" b="1">
                <a:solidFill>
                  <a:srgbClr val="007F78"/>
                </a:solidFill>
                <a:latin typeface="DejaVu Sans"/>
                <a:ea typeface="DejaVu Sans"/>
                <a:cs typeface="DejaVu Sans"/>
              </a:defRPr>
            </a:lvl5pPr>
            <a:lvl6pPr algn="l">
              <a:buNone/>
              <a:defRPr sz="2025" b="1">
                <a:solidFill>
                  <a:srgbClr val="007F78"/>
                </a:solidFill>
                <a:latin typeface="DejaVu Sans"/>
                <a:ea typeface="DejaVu Sans"/>
                <a:cs typeface="DejaVu Sans"/>
              </a:defRPr>
            </a:lvl6pPr>
            <a:lvl7pPr algn="l">
              <a:buNone/>
              <a:defRPr sz="2025" b="1">
                <a:solidFill>
                  <a:srgbClr val="007F78"/>
                </a:solidFill>
                <a:latin typeface="DejaVu Sans"/>
                <a:ea typeface="DejaVu Sans"/>
                <a:cs typeface="DejaVu Sans"/>
              </a:defRPr>
            </a:lvl7pPr>
            <a:lvl8pPr algn="l">
              <a:buNone/>
              <a:defRPr sz="2025" b="1">
                <a:solidFill>
                  <a:srgbClr val="007F78"/>
                </a:solidFill>
                <a:latin typeface="DejaVu Sans"/>
                <a:ea typeface="DejaVu Sans"/>
                <a:cs typeface="DejaVu Sans"/>
              </a:defRPr>
            </a:lvl8pPr>
            <a:lvl9pPr algn="l">
              <a:buNone/>
              <a:defRPr sz="2025" b="1">
                <a:solidFill>
                  <a:srgbClr val="007F78"/>
                </a:solidFill>
                <a:latin typeface="DejaVu Sans"/>
                <a:ea typeface="DejaVu Sans"/>
                <a:cs typeface="DejaVu Sans"/>
              </a:defRPr>
            </a:lvl9pPr>
          </a:lstStyle>
          <a:p>
            <a:pPr algn="l">
              <a:lnSpc>
                <a:spcPct val="112000"/>
              </a:lnSpc>
              <a:buNone/>
              <a:defRPr sz="2025" b="1">
                <a:solidFill>
                  <a:srgbClr val="007F78"/>
                </a:solidFill>
                <a:latin typeface="DejaVu Sans"/>
                <a:ea typeface="DejaVu Sans"/>
                <a:cs typeface="DejaVu Sans"/>
              </a:defRPr>
            </a:pPr>
            <a:r>
              <a:rPr sz="2400" b="1" dirty="0">
                <a:solidFill>
                  <a:srgbClr val="007F78"/>
                </a:solidFill>
                <a:latin typeface="Century Gothic" panose="020B0502020202020204" pitchFamily="34" charset="0"/>
              </a:rPr>
              <a:t>Reported impact</a:t>
            </a:r>
          </a:p>
        </p:txBody>
      </p:sp>
      <p:sp>
        <p:nvSpPr>
          <p:cNvPr id="7" name="impact">
            <a:extLst>
              <a:ext uri="{FF2B5EF4-FFF2-40B4-BE49-F238E27FC236}">
                <a16:creationId xmlns:a16="http://schemas.microsoft.com/office/drawing/2014/main" id="{9C7C6EA4-CF7B-4FB2-9F54-E1E4B58D2104}"/>
              </a:ext>
            </a:extLst>
          </p:cNvPr>
          <p:cNvSpPr>
            <a:spLocks noGrp="1"/>
          </p:cNvSpPr>
          <p:nvPr/>
        </p:nvSpPr>
        <p:spPr>
          <a:xfrm>
            <a:off x="723900" y="4991100"/>
            <a:ext cx="10744200" cy="695325"/>
          </a:xfrm>
          <a:prstGeom prst="rect">
            <a:avLst/>
          </a:prstGeom>
          <a:noFill/>
          <a:ln w="0">
            <a:noFill/>
            <a:prstDash val="solid"/>
          </a:ln>
        </p:spPr>
        <p:txBody>
          <a:bodyPr wrap="square" lIns="0" tIns="0" rIns="0" bIns="0" anchor="t">
            <a:noAutofit/>
          </a:bodyPr>
          <a:lstStyle>
            <a:defPPr algn="l">
              <a:defRPr sz="2025" b="0">
                <a:solidFill>
                  <a:srgbClr val="152D34"/>
                </a:solidFill>
                <a:latin typeface="DejaVu Sans"/>
                <a:ea typeface="DejaVu Sans"/>
                <a:cs typeface="DejaVu Sans"/>
              </a:defRPr>
            </a:defPPr>
            <a:lvl1pPr algn="l">
              <a:buNone/>
              <a:defRPr sz="2025" b="0">
                <a:solidFill>
                  <a:srgbClr val="152D34"/>
                </a:solidFill>
                <a:latin typeface="DejaVu Sans"/>
                <a:ea typeface="DejaVu Sans"/>
                <a:cs typeface="DejaVu Sans"/>
              </a:defRPr>
            </a:lvl1pPr>
            <a:lvl2pPr algn="l">
              <a:buNone/>
              <a:defRPr sz="2025" b="0">
                <a:solidFill>
                  <a:srgbClr val="152D34"/>
                </a:solidFill>
                <a:latin typeface="DejaVu Sans"/>
                <a:ea typeface="DejaVu Sans"/>
                <a:cs typeface="DejaVu Sans"/>
              </a:defRPr>
            </a:lvl2pPr>
            <a:lvl3pPr algn="l">
              <a:buNone/>
              <a:defRPr sz="2025" b="0">
                <a:solidFill>
                  <a:srgbClr val="152D34"/>
                </a:solidFill>
                <a:latin typeface="DejaVu Sans"/>
                <a:ea typeface="DejaVu Sans"/>
                <a:cs typeface="DejaVu Sans"/>
              </a:defRPr>
            </a:lvl3pPr>
            <a:lvl4pPr algn="l">
              <a:buNone/>
              <a:defRPr sz="2025" b="0">
                <a:solidFill>
                  <a:srgbClr val="152D34"/>
                </a:solidFill>
                <a:latin typeface="DejaVu Sans"/>
                <a:ea typeface="DejaVu Sans"/>
                <a:cs typeface="DejaVu Sans"/>
              </a:defRPr>
            </a:lvl4pPr>
            <a:lvl5pPr algn="l">
              <a:buNone/>
              <a:defRPr sz="2025" b="0">
                <a:solidFill>
                  <a:srgbClr val="152D34"/>
                </a:solidFill>
                <a:latin typeface="DejaVu Sans"/>
                <a:ea typeface="DejaVu Sans"/>
                <a:cs typeface="DejaVu Sans"/>
              </a:defRPr>
            </a:lvl5pPr>
            <a:lvl6pPr algn="l">
              <a:buNone/>
              <a:defRPr sz="2025" b="0">
                <a:solidFill>
                  <a:srgbClr val="152D34"/>
                </a:solidFill>
                <a:latin typeface="DejaVu Sans"/>
                <a:ea typeface="DejaVu Sans"/>
                <a:cs typeface="DejaVu Sans"/>
              </a:defRPr>
            </a:lvl6pPr>
            <a:lvl7pPr algn="l">
              <a:buNone/>
              <a:defRPr sz="2025" b="0">
                <a:solidFill>
                  <a:srgbClr val="152D34"/>
                </a:solidFill>
                <a:latin typeface="DejaVu Sans"/>
                <a:ea typeface="DejaVu Sans"/>
                <a:cs typeface="DejaVu Sans"/>
              </a:defRPr>
            </a:lvl7pPr>
            <a:lvl8pPr algn="l">
              <a:buNone/>
              <a:defRPr sz="2025" b="0">
                <a:solidFill>
                  <a:srgbClr val="152D34"/>
                </a:solidFill>
                <a:latin typeface="DejaVu Sans"/>
                <a:ea typeface="DejaVu Sans"/>
                <a:cs typeface="DejaVu Sans"/>
              </a:defRPr>
            </a:lvl8pPr>
            <a:lvl9pPr algn="l">
              <a:buNone/>
              <a:defRPr sz="2025" b="0">
                <a:solidFill>
                  <a:srgbClr val="152D34"/>
                </a:solidFill>
                <a:latin typeface="DejaVu Sans"/>
                <a:ea typeface="DejaVu Sans"/>
                <a:cs typeface="DejaVu Sans"/>
              </a:defRPr>
            </a:lvl9pPr>
          </a:lstStyle>
          <a:p>
            <a:pPr algn="l">
              <a:lnSpc>
                <a:spcPct val="112000"/>
              </a:lnSpc>
              <a:buNone/>
              <a:defRPr sz="2025" b="0">
                <a:solidFill>
                  <a:srgbClr val="152D34"/>
                </a:solidFill>
                <a:latin typeface="DejaVu Sans"/>
                <a:ea typeface="DejaVu Sans"/>
                <a:cs typeface="DejaVu Sans"/>
              </a:defRPr>
            </a:pPr>
            <a:r>
              <a:rPr sz="2400" b="0" dirty="0">
                <a:solidFill>
                  <a:srgbClr val="152D34"/>
                </a:solidFill>
                <a:latin typeface="Century Gothic" panose="020B0502020202020204" pitchFamily="34" charset="0"/>
              </a:rPr>
              <a:t>Cline reported no stolen user data or malicious code delivered.</a:t>
            </a:r>
          </a:p>
        </p:txBody>
      </p:sp>
      <p:sp>
        <p:nvSpPr>
          <p:cNvPr id="8" name="implication">
            <a:extLst>
              <a:ext uri="{FF2B5EF4-FFF2-40B4-BE49-F238E27FC236}">
                <a16:creationId xmlns:a16="http://schemas.microsoft.com/office/drawing/2014/main" id="{A1DB42BF-9639-4ADB-9A88-3D50FC7B648B}"/>
              </a:ext>
            </a:extLst>
          </p:cNvPr>
          <p:cNvSpPr>
            <a:spLocks noGrp="1"/>
          </p:cNvSpPr>
          <p:nvPr/>
        </p:nvSpPr>
        <p:spPr>
          <a:xfrm>
            <a:off x="723900" y="5953125"/>
            <a:ext cx="10744200" cy="419100"/>
          </a:xfrm>
          <a:prstGeom prst="rect">
            <a:avLst/>
          </a:prstGeom>
          <a:noFill/>
          <a:ln w="0">
            <a:noFill/>
            <a:prstDash val="solid"/>
          </a:ln>
        </p:spPr>
        <p:txBody>
          <a:bodyPr wrap="square" lIns="0" tIns="0" rIns="0" bIns="0" anchor="t">
            <a:noAutofit/>
          </a:bodyPr>
          <a:lstStyle>
            <a:defPPr algn="l">
              <a:defRPr sz="1875" b="1">
                <a:solidFill>
                  <a:srgbClr val="B26324"/>
                </a:solidFill>
                <a:latin typeface="DejaVu Sans"/>
                <a:ea typeface="DejaVu Sans"/>
                <a:cs typeface="DejaVu Sans"/>
              </a:defRPr>
            </a:defPPr>
            <a:lvl1pPr algn="l">
              <a:buNone/>
              <a:defRPr sz="1875" b="1">
                <a:solidFill>
                  <a:srgbClr val="B26324"/>
                </a:solidFill>
                <a:latin typeface="DejaVu Sans"/>
                <a:ea typeface="DejaVu Sans"/>
                <a:cs typeface="DejaVu Sans"/>
              </a:defRPr>
            </a:lvl1pPr>
            <a:lvl2pPr algn="l">
              <a:buNone/>
              <a:defRPr sz="1875" b="1">
                <a:solidFill>
                  <a:srgbClr val="B26324"/>
                </a:solidFill>
                <a:latin typeface="DejaVu Sans"/>
                <a:ea typeface="DejaVu Sans"/>
                <a:cs typeface="DejaVu Sans"/>
              </a:defRPr>
            </a:lvl2pPr>
            <a:lvl3pPr algn="l">
              <a:buNone/>
              <a:defRPr sz="1875" b="1">
                <a:solidFill>
                  <a:srgbClr val="B26324"/>
                </a:solidFill>
                <a:latin typeface="DejaVu Sans"/>
                <a:ea typeface="DejaVu Sans"/>
                <a:cs typeface="DejaVu Sans"/>
              </a:defRPr>
            </a:lvl3pPr>
            <a:lvl4pPr algn="l">
              <a:buNone/>
              <a:defRPr sz="1875" b="1">
                <a:solidFill>
                  <a:srgbClr val="B26324"/>
                </a:solidFill>
                <a:latin typeface="DejaVu Sans"/>
                <a:ea typeface="DejaVu Sans"/>
                <a:cs typeface="DejaVu Sans"/>
              </a:defRPr>
            </a:lvl4pPr>
            <a:lvl5pPr algn="l">
              <a:buNone/>
              <a:defRPr sz="1875" b="1">
                <a:solidFill>
                  <a:srgbClr val="B26324"/>
                </a:solidFill>
                <a:latin typeface="DejaVu Sans"/>
                <a:ea typeface="DejaVu Sans"/>
                <a:cs typeface="DejaVu Sans"/>
              </a:defRPr>
            </a:lvl5pPr>
            <a:lvl6pPr algn="l">
              <a:buNone/>
              <a:defRPr sz="1875" b="1">
                <a:solidFill>
                  <a:srgbClr val="B26324"/>
                </a:solidFill>
                <a:latin typeface="DejaVu Sans"/>
                <a:ea typeface="DejaVu Sans"/>
                <a:cs typeface="DejaVu Sans"/>
              </a:defRPr>
            </a:lvl6pPr>
            <a:lvl7pPr algn="l">
              <a:buNone/>
              <a:defRPr sz="1875" b="1">
                <a:solidFill>
                  <a:srgbClr val="B26324"/>
                </a:solidFill>
                <a:latin typeface="DejaVu Sans"/>
                <a:ea typeface="DejaVu Sans"/>
                <a:cs typeface="DejaVu Sans"/>
              </a:defRPr>
            </a:lvl7pPr>
            <a:lvl8pPr algn="l">
              <a:buNone/>
              <a:defRPr sz="1875" b="1">
                <a:solidFill>
                  <a:srgbClr val="B26324"/>
                </a:solidFill>
                <a:latin typeface="DejaVu Sans"/>
                <a:ea typeface="DejaVu Sans"/>
                <a:cs typeface="DejaVu Sans"/>
              </a:defRPr>
            </a:lvl8pPr>
            <a:lvl9pPr algn="l">
              <a:buNone/>
              <a:defRPr sz="1875" b="1">
                <a:solidFill>
                  <a:srgbClr val="B26324"/>
                </a:solidFill>
                <a:latin typeface="DejaVu Sans"/>
                <a:ea typeface="DejaVu Sans"/>
                <a:cs typeface="DejaVu Sans"/>
              </a:defRPr>
            </a:lvl9pPr>
          </a:lstStyle>
          <a:p>
            <a:pPr algn="l">
              <a:lnSpc>
                <a:spcPct val="112000"/>
              </a:lnSpc>
              <a:buNone/>
              <a:defRPr sz="1875" b="1">
                <a:solidFill>
                  <a:srgbClr val="B26324"/>
                </a:solidFill>
                <a:latin typeface="DejaVu Sans"/>
                <a:ea typeface="DejaVu Sans"/>
                <a:cs typeface="DejaVu Sans"/>
              </a:defRPr>
            </a:pPr>
            <a:r>
              <a:rPr sz="2400" b="1" dirty="0">
                <a:solidFill>
                  <a:srgbClr val="B26324"/>
                </a:solidFill>
                <a:latin typeface="Century Gothic" panose="020B0502020202020204" pitchFamily="34" charset="0"/>
              </a:rPr>
              <a:t>The incident exposed a loss of control over a software release.</a:t>
            </a:r>
          </a:p>
        </p:txBody>
      </p:sp>
    </p:spTree>
    <p:extLst>
      <p:ext uri="{BB962C8B-B14F-4D97-AF65-F5344CB8AC3E}">
        <p14:creationId xmlns:p14="http://schemas.microsoft.com/office/powerpoint/2010/main" val="8208893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47"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000"/>
                                        <p:tgtEl>
                                          <p:spTgt spid="5"/>
                                        </p:tgtEl>
                                      </p:cBhvr>
                                    </p:animEffect>
                                    <p:anim calcmode="lin" valueType="num">
                                      <p:cBhvr>
                                        <p:cTn id="32" dur="1000" fill="hold"/>
                                        <p:tgtEl>
                                          <p:spTgt spid="5"/>
                                        </p:tgtEl>
                                        <p:attrNameLst>
                                          <p:attrName>ppt_x</p:attrName>
                                        </p:attrNameLst>
                                      </p:cBhvr>
                                      <p:tavLst>
                                        <p:tav tm="0">
                                          <p:val>
                                            <p:strVal val="#ppt_x"/>
                                          </p:val>
                                        </p:tav>
                                        <p:tav tm="100000">
                                          <p:val>
                                            <p:strVal val="#ppt_x"/>
                                          </p:val>
                                        </p:tav>
                                      </p:tavLst>
                                    </p:anim>
                                    <p:anim calcmode="lin" valueType="num">
                                      <p:cBhvr>
                                        <p:cTn id="3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additive="base">
                                        <p:cTn id="48" dur="500" fill="hold"/>
                                        <p:tgtEl>
                                          <p:spTgt spid="8"/>
                                        </p:tgtEl>
                                        <p:attrNameLst>
                                          <p:attrName>ppt_x</p:attrName>
                                        </p:attrNameLst>
                                      </p:cBhvr>
                                      <p:tavLst>
                                        <p:tav tm="0">
                                          <p:val>
                                            <p:strVal val="#ppt_x"/>
                                          </p:val>
                                        </p:tav>
                                        <p:tav tm="100000">
                                          <p:val>
                                            <p:strVal val="#ppt_x"/>
                                          </p:val>
                                        </p:tav>
                                      </p:tavLst>
                                    </p:anim>
                                    <p:anim calcmode="lin" valueType="num">
                                      <p:cBhvr additive="base">
                                        <p:cTn id="4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3" grpId="0"/>
      <p:bldP spid="4" grpId="0"/>
      <p:bldP spid="5" grpId="0"/>
      <p:bldP spid="6" grpId="0"/>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0A010F24-4DBE-4A18-9F10-4D5529F465A5}"/>
              </a:ext>
            </a:extLst>
          </p:cNvPr>
          <p:cNvSpPr>
            <a:spLocks noGrp="1"/>
          </p:cNvSpPr>
          <p:nvPr/>
        </p:nvSpPr>
        <p:spPr>
          <a:xfrm>
            <a:off x="723900" y="619125"/>
            <a:ext cx="10744200" cy="666750"/>
          </a:xfrm>
          <a:prstGeom prst="rect">
            <a:avLst/>
          </a:prstGeom>
          <a:noFill/>
          <a:ln w="0">
            <a:noFill/>
            <a:prstDash val="solid"/>
          </a:ln>
        </p:spPr>
        <p:txBody>
          <a:bodyPr wrap="square" lIns="0" tIns="0" rIns="0" bIns="0" anchor="t">
            <a:noAutofit/>
          </a:bodyPr>
          <a:lstStyle>
            <a:defPPr algn="l">
              <a:defRPr sz="3600" b="1">
                <a:solidFill>
                  <a:srgbClr val="152D34"/>
                </a:solidFill>
                <a:latin typeface="DejaVu Sans"/>
                <a:ea typeface="DejaVu Sans"/>
                <a:cs typeface="DejaVu Sans"/>
              </a:defRPr>
            </a:defPPr>
            <a:lvl1pPr algn="l">
              <a:buNone/>
              <a:defRPr sz="3600" b="1">
                <a:solidFill>
                  <a:srgbClr val="152D34"/>
                </a:solidFill>
                <a:latin typeface="DejaVu Sans"/>
                <a:ea typeface="DejaVu Sans"/>
                <a:cs typeface="DejaVu Sans"/>
              </a:defRPr>
            </a:lvl1pPr>
            <a:lvl2pPr algn="l">
              <a:buNone/>
              <a:defRPr sz="3600" b="1">
                <a:solidFill>
                  <a:srgbClr val="152D34"/>
                </a:solidFill>
                <a:latin typeface="DejaVu Sans"/>
                <a:ea typeface="DejaVu Sans"/>
                <a:cs typeface="DejaVu Sans"/>
              </a:defRPr>
            </a:lvl2pPr>
            <a:lvl3pPr algn="l">
              <a:buNone/>
              <a:defRPr sz="3600" b="1">
                <a:solidFill>
                  <a:srgbClr val="152D34"/>
                </a:solidFill>
                <a:latin typeface="DejaVu Sans"/>
                <a:ea typeface="DejaVu Sans"/>
                <a:cs typeface="DejaVu Sans"/>
              </a:defRPr>
            </a:lvl3pPr>
            <a:lvl4pPr algn="l">
              <a:buNone/>
              <a:defRPr sz="3600" b="1">
                <a:solidFill>
                  <a:srgbClr val="152D34"/>
                </a:solidFill>
                <a:latin typeface="DejaVu Sans"/>
                <a:ea typeface="DejaVu Sans"/>
                <a:cs typeface="DejaVu Sans"/>
              </a:defRPr>
            </a:lvl4pPr>
            <a:lvl5pPr algn="l">
              <a:buNone/>
              <a:defRPr sz="3600" b="1">
                <a:solidFill>
                  <a:srgbClr val="152D34"/>
                </a:solidFill>
                <a:latin typeface="DejaVu Sans"/>
                <a:ea typeface="DejaVu Sans"/>
                <a:cs typeface="DejaVu Sans"/>
              </a:defRPr>
            </a:lvl5pPr>
            <a:lvl6pPr algn="l">
              <a:buNone/>
              <a:defRPr sz="3600" b="1">
                <a:solidFill>
                  <a:srgbClr val="152D34"/>
                </a:solidFill>
                <a:latin typeface="DejaVu Sans"/>
                <a:ea typeface="DejaVu Sans"/>
                <a:cs typeface="DejaVu Sans"/>
              </a:defRPr>
            </a:lvl6pPr>
            <a:lvl7pPr algn="l">
              <a:buNone/>
              <a:defRPr sz="3600" b="1">
                <a:solidFill>
                  <a:srgbClr val="152D34"/>
                </a:solidFill>
                <a:latin typeface="DejaVu Sans"/>
                <a:ea typeface="DejaVu Sans"/>
                <a:cs typeface="DejaVu Sans"/>
              </a:defRPr>
            </a:lvl7pPr>
            <a:lvl8pPr algn="l">
              <a:buNone/>
              <a:defRPr sz="3600" b="1">
                <a:solidFill>
                  <a:srgbClr val="152D34"/>
                </a:solidFill>
                <a:latin typeface="DejaVu Sans"/>
                <a:ea typeface="DejaVu Sans"/>
                <a:cs typeface="DejaVu Sans"/>
              </a:defRPr>
            </a:lvl8pPr>
            <a:lvl9pPr algn="l">
              <a:buNone/>
              <a:defRPr sz="3600" b="1">
                <a:solidFill>
                  <a:srgbClr val="152D34"/>
                </a:solidFill>
                <a:latin typeface="DejaVu Sans"/>
                <a:ea typeface="DejaVu Sans"/>
                <a:cs typeface="DejaVu Sans"/>
              </a:defRPr>
            </a:lvl9pPr>
          </a:lstStyle>
          <a:p>
            <a:pPr algn="ctr">
              <a:lnSpc>
                <a:spcPct val="112000"/>
              </a:lnSpc>
              <a:buNone/>
              <a:defRPr sz="3600" b="1">
                <a:solidFill>
                  <a:srgbClr val="152D34"/>
                </a:solidFill>
                <a:latin typeface="DejaVu Sans"/>
                <a:ea typeface="DejaVu Sans"/>
                <a:cs typeface="DejaVu Sans"/>
              </a:defRPr>
            </a:pPr>
            <a:r>
              <a:rPr sz="4000" b="1" dirty="0">
                <a:solidFill>
                  <a:srgbClr val="152D34"/>
                </a:solidFill>
                <a:latin typeface="Century Gothic" panose="020B0502020202020204" pitchFamily="34" charset="0"/>
              </a:rPr>
              <a:t>Safeguards</a:t>
            </a:r>
            <a:endParaRPr sz="3600" b="1" dirty="0">
              <a:solidFill>
                <a:srgbClr val="152D34"/>
              </a:solidFill>
              <a:latin typeface="Century Gothic" panose="020B0502020202020204" pitchFamily="34" charset="0"/>
            </a:endParaRPr>
          </a:p>
        </p:txBody>
      </p:sp>
      <p:sp>
        <p:nvSpPr>
          <p:cNvPr id="2" name="safeguard-1">
            <a:extLst>
              <a:ext uri="{FF2B5EF4-FFF2-40B4-BE49-F238E27FC236}">
                <a16:creationId xmlns:a16="http://schemas.microsoft.com/office/drawing/2014/main" id="{366A0DB4-D3E3-4A73-BDCF-38E759A0692E}"/>
              </a:ext>
            </a:extLst>
          </p:cNvPr>
          <p:cNvSpPr>
            <a:spLocks noGrp="1"/>
          </p:cNvSpPr>
          <p:nvPr/>
        </p:nvSpPr>
        <p:spPr>
          <a:xfrm>
            <a:off x="723900" y="1762125"/>
            <a:ext cx="10744200" cy="428625"/>
          </a:xfrm>
          <a:prstGeom prst="rect">
            <a:avLst/>
          </a:prstGeom>
          <a:noFill/>
          <a:ln w="0">
            <a:noFill/>
            <a:prstDash val="solid"/>
          </a:ln>
        </p:spPr>
        <p:txBody>
          <a:bodyPr wrap="square" lIns="0" tIns="0" rIns="0" bIns="0" anchor="t">
            <a:noAutofit/>
          </a:bodyPr>
          <a:lstStyle>
            <a:defPPr algn="l">
              <a:defRPr sz="2400" b="1">
                <a:solidFill>
                  <a:srgbClr val="007F78"/>
                </a:solidFill>
                <a:latin typeface="DejaVu Sans"/>
                <a:ea typeface="DejaVu Sans"/>
                <a:cs typeface="DejaVu Sans"/>
              </a:defRPr>
            </a:defPPr>
            <a:lvl1pPr algn="l">
              <a:buNone/>
              <a:defRPr sz="2400" b="1">
                <a:solidFill>
                  <a:srgbClr val="007F78"/>
                </a:solidFill>
                <a:latin typeface="DejaVu Sans"/>
                <a:ea typeface="DejaVu Sans"/>
                <a:cs typeface="DejaVu Sans"/>
              </a:defRPr>
            </a:lvl1pPr>
            <a:lvl2pPr algn="l">
              <a:buNone/>
              <a:defRPr sz="2400" b="1">
                <a:solidFill>
                  <a:srgbClr val="007F78"/>
                </a:solidFill>
                <a:latin typeface="DejaVu Sans"/>
                <a:ea typeface="DejaVu Sans"/>
                <a:cs typeface="DejaVu Sans"/>
              </a:defRPr>
            </a:lvl2pPr>
            <a:lvl3pPr algn="l">
              <a:buNone/>
              <a:defRPr sz="2400" b="1">
                <a:solidFill>
                  <a:srgbClr val="007F78"/>
                </a:solidFill>
                <a:latin typeface="DejaVu Sans"/>
                <a:ea typeface="DejaVu Sans"/>
                <a:cs typeface="DejaVu Sans"/>
              </a:defRPr>
            </a:lvl3pPr>
            <a:lvl4pPr algn="l">
              <a:buNone/>
              <a:defRPr sz="2400" b="1">
                <a:solidFill>
                  <a:srgbClr val="007F78"/>
                </a:solidFill>
                <a:latin typeface="DejaVu Sans"/>
                <a:ea typeface="DejaVu Sans"/>
                <a:cs typeface="DejaVu Sans"/>
              </a:defRPr>
            </a:lvl4pPr>
            <a:lvl5pPr algn="l">
              <a:buNone/>
              <a:defRPr sz="2400" b="1">
                <a:solidFill>
                  <a:srgbClr val="007F78"/>
                </a:solidFill>
                <a:latin typeface="DejaVu Sans"/>
                <a:ea typeface="DejaVu Sans"/>
                <a:cs typeface="DejaVu Sans"/>
              </a:defRPr>
            </a:lvl5pPr>
            <a:lvl6pPr algn="l">
              <a:buNone/>
              <a:defRPr sz="2400" b="1">
                <a:solidFill>
                  <a:srgbClr val="007F78"/>
                </a:solidFill>
                <a:latin typeface="DejaVu Sans"/>
                <a:ea typeface="DejaVu Sans"/>
                <a:cs typeface="DejaVu Sans"/>
              </a:defRPr>
            </a:lvl6pPr>
            <a:lvl7pPr algn="l">
              <a:buNone/>
              <a:defRPr sz="2400" b="1">
                <a:solidFill>
                  <a:srgbClr val="007F78"/>
                </a:solidFill>
                <a:latin typeface="DejaVu Sans"/>
                <a:ea typeface="DejaVu Sans"/>
                <a:cs typeface="DejaVu Sans"/>
              </a:defRPr>
            </a:lvl7pPr>
            <a:lvl8pPr algn="l">
              <a:buNone/>
              <a:defRPr sz="2400" b="1">
                <a:solidFill>
                  <a:srgbClr val="007F78"/>
                </a:solidFill>
                <a:latin typeface="DejaVu Sans"/>
                <a:ea typeface="DejaVu Sans"/>
                <a:cs typeface="DejaVu Sans"/>
              </a:defRPr>
            </a:lvl8pPr>
            <a:lvl9pPr algn="l">
              <a:buNone/>
              <a:defRPr sz="2400" b="1">
                <a:solidFill>
                  <a:srgbClr val="007F78"/>
                </a:solidFill>
                <a:latin typeface="DejaVu Sans"/>
                <a:ea typeface="DejaVu Sans"/>
                <a:cs typeface="DejaVu Sans"/>
              </a:defRPr>
            </a:lvl9pPr>
          </a:lstStyle>
          <a:p>
            <a:pPr algn="l">
              <a:lnSpc>
                <a:spcPct val="112000"/>
              </a:lnSpc>
              <a:buNone/>
              <a:defRPr sz="2400" b="1">
                <a:solidFill>
                  <a:srgbClr val="007F78"/>
                </a:solidFill>
                <a:latin typeface="DejaVu Sans"/>
                <a:ea typeface="DejaVu Sans"/>
                <a:cs typeface="DejaVu Sans"/>
              </a:defRPr>
            </a:pPr>
            <a:r>
              <a:rPr sz="2800" b="1" dirty="0">
                <a:solidFill>
                  <a:srgbClr val="007F78"/>
                </a:solidFill>
                <a:latin typeface="Century Gothic" panose="020B0502020202020204" pitchFamily="34" charset="0"/>
              </a:rPr>
              <a:t>Limit permissions</a:t>
            </a:r>
          </a:p>
        </p:txBody>
      </p:sp>
      <p:sp>
        <p:nvSpPr>
          <p:cNvPr id="3" name="explanation-1">
            <a:extLst>
              <a:ext uri="{FF2B5EF4-FFF2-40B4-BE49-F238E27FC236}">
                <a16:creationId xmlns:a16="http://schemas.microsoft.com/office/drawing/2014/main" id="{FBDC7520-A60F-43E9-A90A-6285EDD01634}"/>
              </a:ext>
            </a:extLst>
          </p:cNvPr>
          <p:cNvSpPr>
            <a:spLocks noGrp="1"/>
          </p:cNvSpPr>
          <p:nvPr/>
        </p:nvSpPr>
        <p:spPr>
          <a:xfrm>
            <a:off x="723900" y="2228850"/>
            <a:ext cx="10744200" cy="447675"/>
          </a:xfrm>
          <a:prstGeom prst="rect">
            <a:avLst/>
          </a:prstGeom>
          <a:noFill/>
          <a:ln w="0">
            <a:noFill/>
            <a:prstDash val="solid"/>
          </a:ln>
        </p:spPr>
        <p:txBody>
          <a:bodyPr wrap="square" lIns="0" tIns="0" rIns="0" bIns="0" anchor="t">
            <a:noAutofit/>
          </a:bodyPr>
          <a:lstStyle>
            <a:defPPr algn="l">
              <a:defRPr sz="1950" b="0">
                <a:solidFill>
                  <a:srgbClr val="152D34"/>
                </a:solidFill>
                <a:latin typeface="DejaVu Sans"/>
                <a:ea typeface="DejaVu Sans"/>
                <a:cs typeface="DejaVu Sans"/>
              </a:defRPr>
            </a:defPPr>
            <a:lvl1pPr algn="l">
              <a:buNone/>
              <a:defRPr sz="1950" b="0">
                <a:solidFill>
                  <a:srgbClr val="152D34"/>
                </a:solidFill>
                <a:latin typeface="DejaVu Sans"/>
                <a:ea typeface="DejaVu Sans"/>
                <a:cs typeface="DejaVu Sans"/>
              </a:defRPr>
            </a:lvl1pPr>
            <a:lvl2pPr algn="l">
              <a:buNone/>
              <a:defRPr sz="1950" b="0">
                <a:solidFill>
                  <a:srgbClr val="152D34"/>
                </a:solidFill>
                <a:latin typeface="DejaVu Sans"/>
                <a:ea typeface="DejaVu Sans"/>
                <a:cs typeface="DejaVu Sans"/>
              </a:defRPr>
            </a:lvl2pPr>
            <a:lvl3pPr algn="l">
              <a:buNone/>
              <a:defRPr sz="1950" b="0">
                <a:solidFill>
                  <a:srgbClr val="152D34"/>
                </a:solidFill>
                <a:latin typeface="DejaVu Sans"/>
                <a:ea typeface="DejaVu Sans"/>
                <a:cs typeface="DejaVu Sans"/>
              </a:defRPr>
            </a:lvl3pPr>
            <a:lvl4pPr algn="l">
              <a:buNone/>
              <a:defRPr sz="1950" b="0">
                <a:solidFill>
                  <a:srgbClr val="152D34"/>
                </a:solidFill>
                <a:latin typeface="DejaVu Sans"/>
                <a:ea typeface="DejaVu Sans"/>
                <a:cs typeface="DejaVu Sans"/>
              </a:defRPr>
            </a:lvl4pPr>
            <a:lvl5pPr algn="l">
              <a:buNone/>
              <a:defRPr sz="1950" b="0">
                <a:solidFill>
                  <a:srgbClr val="152D34"/>
                </a:solidFill>
                <a:latin typeface="DejaVu Sans"/>
                <a:ea typeface="DejaVu Sans"/>
                <a:cs typeface="DejaVu Sans"/>
              </a:defRPr>
            </a:lvl5pPr>
            <a:lvl6pPr algn="l">
              <a:buNone/>
              <a:defRPr sz="1950" b="0">
                <a:solidFill>
                  <a:srgbClr val="152D34"/>
                </a:solidFill>
                <a:latin typeface="DejaVu Sans"/>
                <a:ea typeface="DejaVu Sans"/>
                <a:cs typeface="DejaVu Sans"/>
              </a:defRPr>
            </a:lvl6pPr>
            <a:lvl7pPr algn="l">
              <a:buNone/>
              <a:defRPr sz="1950" b="0">
                <a:solidFill>
                  <a:srgbClr val="152D34"/>
                </a:solidFill>
                <a:latin typeface="DejaVu Sans"/>
                <a:ea typeface="DejaVu Sans"/>
                <a:cs typeface="DejaVu Sans"/>
              </a:defRPr>
            </a:lvl7pPr>
            <a:lvl8pPr algn="l">
              <a:buNone/>
              <a:defRPr sz="1950" b="0">
                <a:solidFill>
                  <a:srgbClr val="152D34"/>
                </a:solidFill>
                <a:latin typeface="DejaVu Sans"/>
                <a:ea typeface="DejaVu Sans"/>
                <a:cs typeface="DejaVu Sans"/>
              </a:defRPr>
            </a:lvl8pPr>
            <a:lvl9pPr algn="l">
              <a:buNone/>
              <a:defRPr sz="1950" b="0">
                <a:solidFill>
                  <a:srgbClr val="152D34"/>
                </a:solidFill>
                <a:latin typeface="DejaVu Sans"/>
                <a:ea typeface="DejaVu Sans"/>
                <a:cs typeface="DejaVu Sans"/>
              </a:defRPr>
            </a:lvl9pPr>
          </a:lstStyle>
          <a:p>
            <a:pPr algn="l">
              <a:lnSpc>
                <a:spcPct val="112000"/>
              </a:lnSpc>
              <a:buNone/>
              <a:defRPr sz="1950" b="0">
                <a:solidFill>
                  <a:srgbClr val="152D34"/>
                </a:solidFill>
                <a:latin typeface="DejaVu Sans"/>
                <a:ea typeface="DejaVu Sans"/>
                <a:cs typeface="DejaVu Sans"/>
              </a:defRPr>
            </a:pPr>
            <a:r>
              <a:rPr sz="2400" b="0" dirty="0">
                <a:solidFill>
                  <a:srgbClr val="152D34"/>
                </a:solidFill>
                <a:latin typeface="Century Gothic" panose="020B0502020202020204" pitchFamily="34" charset="0"/>
              </a:rPr>
              <a:t>Give agents only the tools their task needs.</a:t>
            </a:r>
          </a:p>
        </p:txBody>
      </p:sp>
      <p:sp>
        <p:nvSpPr>
          <p:cNvPr id="4" name="safeguard-2">
            <a:extLst>
              <a:ext uri="{FF2B5EF4-FFF2-40B4-BE49-F238E27FC236}">
                <a16:creationId xmlns:a16="http://schemas.microsoft.com/office/drawing/2014/main" id="{E573E65B-7F30-40D5-AAB0-CC3DE5119D4A}"/>
              </a:ext>
            </a:extLst>
          </p:cNvPr>
          <p:cNvSpPr>
            <a:spLocks noGrp="1"/>
          </p:cNvSpPr>
          <p:nvPr/>
        </p:nvSpPr>
        <p:spPr>
          <a:xfrm>
            <a:off x="723900" y="2867025"/>
            <a:ext cx="10744200" cy="428625"/>
          </a:xfrm>
          <a:prstGeom prst="rect">
            <a:avLst/>
          </a:prstGeom>
          <a:noFill/>
          <a:ln w="0">
            <a:noFill/>
            <a:prstDash val="solid"/>
          </a:ln>
        </p:spPr>
        <p:txBody>
          <a:bodyPr wrap="square" lIns="0" tIns="0" rIns="0" bIns="0" anchor="t">
            <a:noAutofit/>
          </a:bodyPr>
          <a:lstStyle>
            <a:defPPr algn="l">
              <a:defRPr sz="2400" b="1">
                <a:solidFill>
                  <a:srgbClr val="007F78"/>
                </a:solidFill>
                <a:latin typeface="DejaVu Sans"/>
                <a:ea typeface="DejaVu Sans"/>
                <a:cs typeface="DejaVu Sans"/>
              </a:defRPr>
            </a:defPPr>
            <a:lvl1pPr algn="l">
              <a:buNone/>
              <a:defRPr sz="2400" b="1">
                <a:solidFill>
                  <a:srgbClr val="007F78"/>
                </a:solidFill>
                <a:latin typeface="DejaVu Sans"/>
                <a:ea typeface="DejaVu Sans"/>
                <a:cs typeface="DejaVu Sans"/>
              </a:defRPr>
            </a:lvl1pPr>
            <a:lvl2pPr algn="l">
              <a:buNone/>
              <a:defRPr sz="2400" b="1">
                <a:solidFill>
                  <a:srgbClr val="007F78"/>
                </a:solidFill>
                <a:latin typeface="DejaVu Sans"/>
                <a:ea typeface="DejaVu Sans"/>
                <a:cs typeface="DejaVu Sans"/>
              </a:defRPr>
            </a:lvl2pPr>
            <a:lvl3pPr algn="l">
              <a:buNone/>
              <a:defRPr sz="2400" b="1">
                <a:solidFill>
                  <a:srgbClr val="007F78"/>
                </a:solidFill>
                <a:latin typeface="DejaVu Sans"/>
                <a:ea typeface="DejaVu Sans"/>
                <a:cs typeface="DejaVu Sans"/>
              </a:defRPr>
            </a:lvl3pPr>
            <a:lvl4pPr algn="l">
              <a:buNone/>
              <a:defRPr sz="2400" b="1">
                <a:solidFill>
                  <a:srgbClr val="007F78"/>
                </a:solidFill>
                <a:latin typeface="DejaVu Sans"/>
                <a:ea typeface="DejaVu Sans"/>
                <a:cs typeface="DejaVu Sans"/>
              </a:defRPr>
            </a:lvl4pPr>
            <a:lvl5pPr algn="l">
              <a:buNone/>
              <a:defRPr sz="2400" b="1">
                <a:solidFill>
                  <a:srgbClr val="007F78"/>
                </a:solidFill>
                <a:latin typeface="DejaVu Sans"/>
                <a:ea typeface="DejaVu Sans"/>
                <a:cs typeface="DejaVu Sans"/>
              </a:defRPr>
            </a:lvl5pPr>
            <a:lvl6pPr algn="l">
              <a:buNone/>
              <a:defRPr sz="2400" b="1">
                <a:solidFill>
                  <a:srgbClr val="007F78"/>
                </a:solidFill>
                <a:latin typeface="DejaVu Sans"/>
                <a:ea typeface="DejaVu Sans"/>
                <a:cs typeface="DejaVu Sans"/>
              </a:defRPr>
            </a:lvl6pPr>
            <a:lvl7pPr algn="l">
              <a:buNone/>
              <a:defRPr sz="2400" b="1">
                <a:solidFill>
                  <a:srgbClr val="007F78"/>
                </a:solidFill>
                <a:latin typeface="DejaVu Sans"/>
                <a:ea typeface="DejaVu Sans"/>
                <a:cs typeface="DejaVu Sans"/>
              </a:defRPr>
            </a:lvl7pPr>
            <a:lvl8pPr algn="l">
              <a:buNone/>
              <a:defRPr sz="2400" b="1">
                <a:solidFill>
                  <a:srgbClr val="007F78"/>
                </a:solidFill>
                <a:latin typeface="DejaVu Sans"/>
                <a:ea typeface="DejaVu Sans"/>
                <a:cs typeface="DejaVu Sans"/>
              </a:defRPr>
            </a:lvl8pPr>
            <a:lvl9pPr algn="l">
              <a:buNone/>
              <a:defRPr sz="2400" b="1">
                <a:solidFill>
                  <a:srgbClr val="007F78"/>
                </a:solidFill>
                <a:latin typeface="DejaVu Sans"/>
                <a:ea typeface="DejaVu Sans"/>
                <a:cs typeface="DejaVu Sans"/>
              </a:defRPr>
            </a:lvl9pPr>
          </a:lstStyle>
          <a:p>
            <a:pPr algn="l">
              <a:lnSpc>
                <a:spcPct val="112000"/>
              </a:lnSpc>
              <a:buNone/>
              <a:defRPr sz="2400" b="1">
                <a:solidFill>
                  <a:srgbClr val="007F78"/>
                </a:solidFill>
                <a:latin typeface="DejaVu Sans"/>
                <a:ea typeface="DejaVu Sans"/>
                <a:cs typeface="DejaVu Sans"/>
              </a:defRPr>
            </a:pPr>
            <a:r>
              <a:rPr sz="2800" b="1" dirty="0">
                <a:solidFill>
                  <a:srgbClr val="007F78"/>
                </a:solidFill>
                <a:latin typeface="Century Gothic" panose="020B0502020202020204" pitchFamily="34" charset="0"/>
              </a:rPr>
              <a:t>Separate sensitive systems</a:t>
            </a:r>
          </a:p>
        </p:txBody>
      </p:sp>
      <p:sp>
        <p:nvSpPr>
          <p:cNvPr id="5" name="explanation-2">
            <a:extLst>
              <a:ext uri="{FF2B5EF4-FFF2-40B4-BE49-F238E27FC236}">
                <a16:creationId xmlns:a16="http://schemas.microsoft.com/office/drawing/2014/main" id="{AD012FA4-8A9E-4DB9-B047-87FED1E79668}"/>
              </a:ext>
            </a:extLst>
          </p:cNvPr>
          <p:cNvSpPr>
            <a:spLocks noGrp="1"/>
          </p:cNvSpPr>
          <p:nvPr/>
        </p:nvSpPr>
        <p:spPr>
          <a:xfrm>
            <a:off x="723900" y="3333750"/>
            <a:ext cx="10744200" cy="447675"/>
          </a:xfrm>
          <a:prstGeom prst="rect">
            <a:avLst/>
          </a:prstGeom>
          <a:noFill/>
          <a:ln w="0">
            <a:noFill/>
            <a:prstDash val="solid"/>
          </a:ln>
        </p:spPr>
        <p:txBody>
          <a:bodyPr wrap="square" lIns="0" tIns="0" rIns="0" bIns="0" anchor="t">
            <a:noAutofit/>
          </a:bodyPr>
          <a:lstStyle>
            <a:defPPr algn="l">
              <a:defRPr sz="1950" b="0">
                <a:solidFill>
                  <a:srgbClr val="152D34"/>
                </a:solidFill>
                <a:latin typeface="DejaVu Sans"/>
                <a:ea typeface="DejaVu Sans"/>
                <a:cs typeface="DejaVu Sans"/>
              </a:defRPr>
            </a:defPPr>
            <a:lvl1pPr algn="l">
              <a:buNone/>
              <a:defRPr sz="1950" b="0">
                <a:solidFill>
                  <a:srgbClr val="152D34"/>
                </a:solidFill>
                <a:latin typeface="DejaVu Sans"/>
                <a:ea typeface="DejaVu Sans"/>
                <a:cs typeface="DejaVu Sans"/>
              </a:defRPr>
            </a:lvl1pPr>
            <a:lvl2pPr algn="l">
              <a:buNone/>
              <a:defRPr sz="1950" b="0">
                <a:solidFill>
                  <a:srgbClr val="152D34"/>
                </a:solidFill>
                <a:latin typeface="DejaVu Sans"/>
                <a:ea typeface="DejaVu Sans"/>
                <a:cs typeface="DejaVu Sans"/>
              </a:defRPr>
            </a:lvl2pPr>
            <a:lvl3pPr algn="l">
              <a:buNone/>
              <a:defRPr sz="1950" b="0">
                <a:solidFill>
                  <a:srgbClr val="152D34"/>
                </a:solidFill>
                <a:latin typeface="DejaVu Sans"/>
                <a:ea typeface="DejaVu Sans"/>
                <a:cs typeface="DejaVu Sans"/>
              </a:defRPr>
            </a:lvl3pPr>
            <a:lvl4pPr algn="l">
              <a:buNone/>
              <a:defRPr sz="1950" b="0">
                <a:solidFill>
                  <a:srgbClr val="152D34"/>
                </a:solidFill>
                <a:latin typeface="DejaVu Sans"/>
                <a:ea typeface="DejaVu Sans"/>
                <a:cs typeface="DejaVu Sans"/>
              </a:defRPr>
            </a:lvl4pPr>
            <a:lvl5pPr algn="l">
              <a:buNone/>
              <a:defRPr sz="1950" b="0">
                <a:solidFill>
                  <a:srgbClr val="152D34"/>
                </a:solidFill>
                <a:latin typeface="DejaVu Sans"/>
                <a:ea typeface="DejaVu Sans"/>
                <a:cs typeface="DejaVu Sans"/>
              </a:defRPr>
            </a:lvl5pPr>
            <a:lvl6pPr algn="l">
              <a:buNone/>
              <a:defRPr sz="1950" b="0">
                <a:solidFill>
                  <a:srgbClr val="152D34"/>
                </a:solidFill>
                <a:latin typeface="DejaVu Sans"/>
                <a:ea typeface="DejaVu Sans"/>
                <a:cs typeface="DejaVu Sans"/>
              </a:defRPr>
            </a:lvl6pPr>
            <a:lvl7pPr algn="l">
              <a:buNone/>
              <a:defRPr sz="1950" b="0">
                <a:solidFill>
                  <a:srgbClr val="152D34"/>
                </a:solidFill>
                <a:latin typeface="DejaVu Sans"/>
                <a:ea typeface="DejaVu Sans"/>
                <a:cs typeface="DejaVu Sans"/>
              </a:defRPr>
            </a:lvl7pPr>
            <a:lvl8pPr algn="l">
              <a:buNone/>
              <a:defRPr sz="1950" b="0">
                <a:solidFill>
                  <a:srgbClr val="152D34"/>
                </a:solidFill>
                <a:latin typeface="DejaVu Sans"/>
                <a:ea typeface="DejaVu Sans"/>
                <a:cs typeface="DejaVu Sans"/>
              </a:defRPr>
            </a:lvl8pPr>
            <a:lvl9pPr algn="l">
              <a:buNone/>
              <a:defRPr sz="1950" b="0">
                <a:solidFill>
                  <a:srgbClr val="152D34"/>
                </a:solidFill>
                <a:latin typeface="DejaVu Sans"/>
                <a:ea typeface="DejaVu Sans"/>
                <a:cs typeface="DejaVu Sans"/>
              </a:defRPr>
            </a:lvl9pPr>
          </a:lstStyle>
          <a:p>
            <a:pPr algn="l">
              <a:lnSpc>
                <a:spcPct val="112000"/>
              </a:lnSpc>
              <a:buNone/>
              <a:defRPr sz="1950" b="0">
                <a:solidFill>
                  <a:srgbClr val="152D34"/>
                </a:solidFill>
                <a:latin typeface="DejaVu Sans"/>
                <a:ea typeface="DejaVu Sans"/>
                <a:cs typeface="DejaVu Sans"/>
              </a:defRPr>
            </a:pPr>
            <a:r>
              <a:rPr sz="2400" b="0" dirty="0">
                <a:solidFill>
                  <a:srgbClr val="152D34"/>
                </a:solidFill>
                <a:latin typeface="Century Gothic" panose="020B0502020202020204" pitchFamily="34" charset="0"/>
              </a:rPr>
              <a:t>Keep publishing credentials away from untrusted-input workflows.</a:t>
            </a:r>
          </a:p>
        </p:txBody>
      </p:sp>
      <p:sp>
        <p:nvSpPr>
          <p:cNvPr id="6" name="safeguard-3">
            <a:extLst>
              <a:ext uri="{FF2B5EF4-FFF2-40B4-BE49-F238E27FC236}">
                <a16:creationId xmlns:a16="http://schemas.microsoft.com/office/drawing/2014/main" id="{E01968FA-79AB-46B7-B1FC-F039FBE6CB9A}"/>
              </a:ext>
            </a:extLst>
          </p:cNvPr>
          <p:cNvSpPr>
            <a:spLocks noGrp="1"/>
          </p:cNvSpPr>
          <p:nvPr/>
        </p:nvSpPr>
        <p:spPr>
          <a:xfrm>
            <a:off x="723900" y="3971925"/>
            <a:ext cx="10744200" cy="428625"/>
          </a:xfrm>
          <a:prstGeom prst="rect">
            <a:avLst/>
          </a:prstGeom>
          <a:noFill/>
          <a:ln w="0">
            <a:noFill/>
            <a:prstDash val="solid"/>
          </a:ln>
        </p:spPr>
        <p:txBody>
          <a:bodyPr wrap="square" lIns="0" tIns="0" rIns="0" bIns="0" anchor="t">
            <a:noAutofit/>
          </a:bodyPr>
          <a:lstStyle>
            <a:defPPr algn="l">
              <a:defRPr sz="2400" b="1">
                <a:solidFill>
                  <a:srgbClr val="007F78"/>
                </a:solidFill>
                <a:latin typeface="DejaVu Sans"/>
                <a:ea typeface="DejaVu Sans"/>
                <a:cs typeface="DejaVu Sans"/>
              </a:defRPr>
            </a:defPPr>
            <a:lvl1pPr algn="l">
              <a:buNone/>
              <a:defRPr sz="2400" b="1">
                <a:solidFill>
                  <a:srgbClr val="007F78"/>
                </a:solidFill>
                <a:latin typeface="DejaVu Sans"/>
                <a:ea typeface="DejaVu Sans"/>
                <a:cs typeface="DejaVu Sans"/>
              </a:defRPr>
            </a:lvl1pPr>
            <a:lvl2pPr algn="l">
              <a:buNone/>
              <a:defRPr sz="2400" b="1">
                <a:solidFill>
                  <a:srgbClr val="007F78"/>
                </a:solidFill>
                <a:latin typeface="DejaVu Sans"/>
                <a:ea typeface="DejaVu Sans"/>
                <a:cs typeface="DejaVu Sans"/>
              </a:defRPr>
            </a:lvl2pPr>
            <a:lvl3pPr algn="l">
              <a:buNone/>
              <a:defRPr sz="2400" b="1">
                <a:solidFill>
                  <a:srgbClr val="007F78"/>
                </a:solidFill>
                <a:latin typeface="DejaVu Sans"/>
                <a:ea typeface="DejaVu Sans"/>
                <a:cs typeface="DejaVu Sans"/>
              </a:defRPr>
            </a:lvl3pPr>
            <a:lvl4pPr algn="l">
              <a:buNone/>
              <a:defRPr sz="2400" b="1">
                <a:solidFill>
                  <a:srgbClr val="007F78"/>
                </a:solidFill>
                <a:latin typeface="DejaVu Sans"/>
                <a:ea typeface="DejaVu Sans"/>
                <a:cs typeface="DejaVu Sans"/>
              </a:defRPr>
            </a:lvl4pPr>
            <a:lvl5pPr algn="l">
              <a:buNone/>
              <a:defRPr sz="2400" b="1">
                <a:solidFill>
                  <a:srgbClr val="007F78"/>
                </a:solidFill>
                <a:latin typeface="DejaVu Sans"/>
                <a:ea typeface="DejaVu Sans"/>
                <a:cs typeface="DejaVu Sans"/>
              </a:defRPr>
            </a:lvl5pPr>
            <a:lvl6pPr algn="l">
              <a:buNone/>
              <a:defRPr sz="2400" b="1">
                <a:solidFill>
                  <a:srgbClr val="007F78"/>
                </a:solidFill>
                <a:latin typeface="DejaVu Sans"/>
                <a:ea typeface="DejaVu Sans"/>
                <a:cs typeface="DejaVu Sans"/>
              </a:defRPr>
            </a:lvl6pPr>
            <a:lvl7pPr algn="l">
              <a:buNone/>
              <a:defRPr sz="2400" b="1">
                <a:solidFill>
                  <a:srgbClr val="007F78"/>
                </a:solidFill>
                <a:latin typeface="DejaVu Sans"/>
                <a:ea typeface="DejaVu Sans"/>
                <a:cs typeface="DejaVu Sans"/>
              </a:defRPr>
            </a:lvl7pPr>
            <a:lvl8pPr algn="l">
              <a:buNone/>
              <a:defRPr sz="2400" b="1">
                <a:solidFill>
                  <a:srgbClr val="007F78"/>
                </a:solidFill>
                <a:latin typeface="DejaVu Sans"/>
                <a:ea typeface="DejaVu Sans"/>
                <a:cs typeface="DejaVu Sans"/>
              </a:defRPr>
            </a:lvl8pPr>
            <a:lvl9pPr algn="l">
              <a:buNone/>
              <a:defRPr sz="2400" b="1">
                <a:solidFill>
                  <a:srgbClr val="007F78"/>
                </a:solidFill>
                <a:latin typeface="DejaVu Sans"/>
                <a:ea typeface="DejaVu Sans"/>
                <a:cs typeface="DejaVu Sans"/>
              </a:defRPr>
            </a:lvl9pPr>
          </a:lstStyle>
          <a:p>
            <a:pPr algn="l">
              <a:lnSpc>
                <a:spcPct val="112000"/>
              </a:lnSpc>
              <a:buNone/>
              <a:defRPr sz="2400" b="1">
                <a:solidFill>
                  <a:srgbClr val="007F78"/>
                </a:solidFill>
                <a:latin typeface="DejaVu Sans"/>
                <a:ea typeface="DejaVu Sans"/>
                <a:cs typeface="DejaVu Sans"/>
              </a:defRPr>
            </a:pPr>
            <a:r>
              <a:rPr sz="2800" b="1" dirty="0">
                <a:solidFill>
                  <a:srgbClr val="007F78"/>
                </a:solidFill>
                <a:latin typeface="Century Gothic" panose="020B0502020202020204" pitchFamily="34" charset="0"/>
              </a:rPr>
              <a:t>Verify credential revocation</a:t>
            </a:r>
          </a:p>
        </p:txBody>
      </p:sp>
      <p:sp>
        <p:nvSpPr>
          <p:cNvPr id="7" name="explanation-3">
            <a:extLst>
              <a:ext uri="{FF2B5EF4-FFF2-40B4-BE49-F238E27FC236}">
                <a16:creationId xmlns:a16="http://schemas.microsoft.com/office/drawing/2014/main" id="{26D9A897-92F8-4BAE-9711-D448C1BD0191}"/>
              </a:ext>
            </a:extLst>
          </p:cNvPr>
          <p:cNvSpPr>
            <a:spLocks noGrp="1"/>
          </p:cNvSpPr>
          <p:nvPr/>
        </p:nvSpPr>
        <p:spPr>
          <a:xfrm>
            <a:off x="723900" y="4438650"/>
            <a:ext cx="10744200" cy="447675"/>
          </a:xfrm>
          <a:prstGeom prst="rect">
            <a:avLst/>
          </a:prstGeom>
          <a:noFill/>
          <a:ln w="0">
            <a:noFill/>
            <a:prstDash val="solid"/>
          </a:ln>
        </p:spPr>
        <p:txBody>
          <a:bodyPr wrap="square" lIns="0" tIns="0" rIns="0" bIns="0" anchor="t">
            <a:noAutofit/>
          </a:bodyPr>
          <a:lstStyle>
            <a:defPPr algn="l">
              <a:defRPr sz="1950" b="0">
                <a:solidFill>
                  <a:srgbClr val="152D34"/>
                </a:solidFill>
                <a:latin typeface="DejaVu Sans"/>
                <a:ea typeface="DejaVu Sans"/>
                <a:cs typeface="DejaVu Sans"/>
              </a:defRPr>
            </a:defPPr>
            <a:lvl1pPr algn="l">
              <a:buNone/>
              <a:defRPr sz="1950" b="0">
                <a:solidFill>
                  <a:srgbClr val="152D34"/>
                </a:solidFill>
                <a:latin typeface="DejaVu Sans"/>
                <a:ea typeface="DejaVu Sans"/>
                <a:cs typeface="DejaVu Sans"/>
              </a:defRPr>
            </a:lvl1pPr>
            <a:lvl2pPr algn="l">
              <a:buNone/>
              <a:defRPr sz="1950" b="0">
                <a:solidFill>
                  <a:srgbClr val="152D34"/>
                </a:solidFill>
                <a:latin typeface="DejaVu Sans"/>
                <a:ea typeface="DejaVu Sans"/>
                <a:cs typeface="DejaVu Sans"/>
              </a:defRPr>
            </a:lvl2pPr>
            <a:lvl3pPr algn="l">
              <a:buNone/>
              <a:defRPr sz="1950" b="0">
                <a:solidFill>
                  <a:srgbClr val="152D34"/>
                </a:solidFill>
                <a:latin typeface="DejaVu Sans"/>
                <a:ea typeface="DejaVu Sans"/>
                <a:cs typeface="DejaVu Sans"/>
              </a:defRPr>
            </a:lvl3pPr>
            <a:lvl4pPr algn="l">
              <a:buNone/>
              <a:defRPr sz="1950" b="0">
                <a:solidFill>
                  <a:srgbClr val="152D34"/>
                </a:solidFill>
                <a:latin typeface="DejaVu Sans"/>
                <a:ea typeface="DejaVu Sans"/>
                <a:cs typeface="DejaVu Sans"/>
              </a:defRPr>
            </a:lvl4pPr>
            <a:lvl5pPr algn="l">
              <a:buNone/>
              <a:defRPr sz="1950" b="0">
                <a:solidFill>
                  <a:srgbClr val="152D34"/>
                </a:solidFill>
                <a:latin typeface="DejaVu Sans"/>
                <a:ea typeface="DejaVu Sans"/>
                <a:cs typeface="DejaVu Sans"/>
              </a:defRPr>
            </a:lvl5pPr>
            <a:lvl6pPr algn="l">
              <a:buNone/>
              <a:defRPr sz="1950" b="0">
                <a:solidFill>
                  <a:srgbClr val="152D34"/>
                </a:solidFill>
                <a:latin typeface="DejaVu Sans"/>
                <a:ea typeface="DejaVu Sans"/>
                <a:cs typeface="DejaVu Sans"/>
              </a:defRPr>
            </a:lvl6pPr>
            <a:lvl7pPr algn="l">
              <a:buNone/>
              <a:defRPr sz="1950" b="0">
                <a:solidFill>
                  <a:srgbClr val="152D34"/>
                </a:solidFill>
                <a:latin typeface="DejaVu Sans"/>
                <a:ea typeface="DejaVu Sans"/>
                <a:cs typeface="DejaVu Sans"/>
              </a:defRPr>
            </a:lvl7pPr>
            <a:lvl8pPr algn="l">
              <a:buNone/>
              <a:defRPr sz="1950" b="0">
                <a:solidFill>
                  <a:srgbClr val="152D34"/>
                </a:solidFill>
                <a:latin typeface="DejaVu Sans"/>
                <a:ea typeface="DejaVu Sans"/>
                <a:cs typeface="DejaVu Sans"/>
              </a:defRPr>
            </a:lvl8pPr>
            <a:lvl9pPr algn="l">
              <a:buNone/>
              <a:defRPr sz="1950" b="0">
                <a:solidFill>
                  <a:srgbClr val="152D34"/>
                </a:solidFill>
                <a:latin typeface="DejaVu Sans"/>
                <a:ea typeface="DejaVu Sans"/>
                <a:cs typeface="DejaVu Sans"/>
              </a:defRPr>
            </a:lvl9pPr>
          </a:lstStyle>
          <a:p>
            <a:pPr algn="l">
              <a:lnSpc>
                <a:spcPct val="112000"/>
              </a:lnSpc>
              <a:buNone/>
              <a:defRPr sz="1950" b="0">
                <a:solidFill>
                  <a:srgbClr val="152D34"/>
                </a:solidFill>
                <a:latin typeface="DejaVu Sans"/>
                <a:ea typeface="DejaVu Sans"/>
                <a:cs typeface="DejaVu Sans"/>
              </a:defRPr>
            </a:pPr>
            <a:r>
              <a:rPr sz="2400" b="0" dirty="0">
                <a:solidFill>
                  <a:srgbClr val="152D34"/>
                </a:solidFill>
                <a:latin typeface="Century Gothic" panose="020B0502020202020204" pitchFamily="34" charset="0"/>
              </a:rPr>
              <a:t>Check that exposed credentials no longer work.</a:t>
            </a:r>
          </a:p>
        </p:txBody>
      </p:sp>
      <p:sp>
        <p:nvSpPr>
          <p:cNvPr id="8" name="safeguard-4">
            <a:extLst>
              <a:ext uri="{FF2B5EF4-FFF2-40B4-BE49-F238E27FC236}">
                <a16:creationId xmlns:a16="http://schemas.microsoft.com/office/drawing/2014/main" id="{FC86715D-D408-4670-9E75-FEF3D14D194A}"/>
              </a:ext>
            </a:extLst>
          </p:cNvPr>
          <p:cNvSpPr>
            <a:spLocks noGrp="1"/>
          </p:cNvSpPr>
          <p:nvPr/>
        </p:nvSpPr>
        <p:spPr>
          <a:xfrm>
            <a:off x="723900" y="5076825"/>
            <a:ext cx="10744200" cy="428625"/>
          </a:xfrm>
          <a:prstGeom prst="rect">
            <a:avLst/>
          </a:prstGeom>
          <a:noFill/>
          <a:ln w="0">
            <a:noFill/>
            <a:prstDash val="solid"/>
          </a:ln>
        </p:spPr>
        <p:txBody>
          <a:bodyPr wrap="square" lIns="0" tIns="0" rIns="0" bIns="0" anchor="t">
            <a:noAutofit/>
          </a:bodyPr>
          <a:lstStyle>
            <a:defPPr algn="l">
              <a:defRPr sz="2400" b="1">
                <a:solidFill>
                  <a:srgbClr val="007F78"/>
                </a:solidFill>
                <a:latin typeface="DejaVu Sans"/>
                <a:ea typeface="DejaVu Sans"/>
                <a:cs typeface="DejaVu Sans"/>
              </a:defRPr>
            </a:defPPr>
            <a:lvl1pPr algn="l">
              <a:buNone/>
              <a:defRPr sz="2400" b="1">
                <a:solidFill>
                  <a:srgbClr val="007F78"/>
                </a:solidFill>
                <a:latin typeface="DejaVu Sans"/>
                <a:ea typeface="DejaVu Sans"/>
                <a:cs typeface="DejaVu Sans"/>
              </a:defRPr>
            </a:lvl1pPr>
            <a:lvl2pPr algn="l">
              <a:buNone/>
              <a:defRPr sz="2400" b="1">
                <a:solidFill>
                  <a:srgbClr val="007F78"/>
                </a:solidFill>
                <a:latin typeface="DejaVu Sans"/>
                <a:ea typeface="DejaVu Sans"/>
                <a:cs typeface="DejaVu Sans"/>
              </a:defRPr>
            </a:lvl2pPr>
            <a:lvl3pPr algn="l">
              <a:buNone/>
              <a:defRPr sz="2400" b="1">
                <a:solidFill>
                  <a:srgbClr val="007F78"/>
                </a:solidFill>
                <a:latin typeface="DejaVu Sans"/>
                <a:ea typeface="DejaVu Sans"/>
                <a:cs typeface="DejaVu Sans"/>
              </a:defRPr>
            </a:lvl3pPr>
            <a:lvl4pPr algn="l">
              <a:buNone/>
              <a:defRPr sz="2400" b="1">
                <a:solidFill>
                  <a:srgbClr val="007F78"/>
                </a:solidFill>
                <a:latin typeface="DejaVu Sans"/>
                <a:ea typeface="DejaVu Sans"/>
                <a:cs typeface="DejaVu Sans"/>
              </a:defRPr>
            </a:lvl4pPr>
            <a:lvl5pPr algn="l">
              <a:buNone/>
              <a:defRPr sz="2400" b="1">
                <a:solidFill>
                  <a:srgbClr val="007F78"/>
                </a:solidFill>
                <a:latin typeface="DejaVu Sans"/>
                <a:ea typeface="DejaVu Sans"/>
                <a:cs typeface="DejaVu Sans"/>
              </a:defRPr>
            </a:lvl5pPr>
            <a:lvl6pPr algn="l">
              <a:buNone/>
              <a:defRPr sz="2400" b="1">
                <a:solidFill>
                  <a:srgbClr val="007F78"/>
                </a:solidFill>
                <a:latin typeface="DejaVu Sans"/>
                <a:ea typeface="DejaVu Sans"/>
                <a:cs typeface="DejaVu Sans"/>
              </a:defRPr>
            </a:lvl6pPr>
            <a:lvl7pPr algn="l">
              <a:buNone/>
              <a:defRPr sz="2400" b="1">
                <a:solidFill>
                  <a:srgbClr val="007F78"/>
                </a:solidFill>
                <a:latin typeface="DejaVu Sans"/>
                <a:ea typeface="DejaVu Sans"/>
                <a:cs typeface="DejaVu Sans"/>
              </a:defRPr>
            </a:lvl7pPr>
            <a:lvl8pPr algn="l">
              <a:buNone/>
              <a:defRPr sz="2400" b="1">
                <a:solidFill>
                  <a:srgbClr val="007F78"/>
                </a:solidFill>
                <a:latin typeface="DejaVu Sans"/>
                <a:ea typeface="DejaVu Sans"/>
                <a:cs typeface="DejaVu Sans"/>
              </a:defRPr>
            </a:lvl8pPr>
            <a:lvl9pPr algn="l">
              <a:buNone/>
              <a:defRPr sz="2400" b="1">
                <a:solidFill>
                  <a:srgbClr val="007F78"/>
                </a:solidFill>
                <a:latin typeface="DejaVu Sans"/>
                <a:ea typeface="DejaVu Sans"/>
                <a:cs typeface="DejaVu Sans"/>
              </a:defRPr>
            </a:lvl9pPr>
          </a:lstStyle>
          <a:p>
            <a:pPr algn="l">
              <a:lnSpc>
                <a:spcPct val="112000"/>
              </a:lnSpc>
              <a:buNone/>
              <a:defRPr sz="2400" b="1">
                <a:solidFill>
                  <a:srgbClr val="007F78"/>
                </a:solidFill>
                <a:latin typeface="DejaVu Sans"/>
                <a:ea typeface="DejaVu Sans"/>
                <a:cs typeface="DejaVu Sans"/>
              </a:defRPr>
            </a:pPr>
            <a:r>
              <a:rPr sz="2800" b="1" dirty="0">
                <a:solidFill>
                  <a:srgbClr val="007F78"/>
                </a:solidFill>
                <a:latin typeface="Century Gothic" panose="020B0502020202020204" pitchFamily="34" charset="0"/>
              </a:rPr>
              <a:t>Require human approval</a:t>
            </a:r>
          </a:p>
        </p:txBody>
      </p:sp>
      <p:sp>
        <p:nvSpPr>
          <p:cNvPr id="9" name="explanation-4">
            <a:extLst>
              <a:ext uri="{FF2B5EF4-FFF2-40B4-BE49-F238E27FC236}">
                <a16:creationId xmlns:a16="http://schemas.microsoft.com/office/drawing/2014/main" id="{6DF751C2-3E01-4C10-9F67-7F7E2C749F4E}"/>
              </a:ext>
            </a:extLst>
          </p:cNvPr>
          <p:cNvSpPr>
            <a:spLocks noGrp="1"/>
          </p:cNvSpPr>
          <p:nvPr/>
        </p:nvSpPr>
        <p:spPr>
          <a:xfrm>
            <a:off x="723900" y="5543550"/>
            <a:ext cx="10744200" cy="447675"/>
          </a:xfrm>
          <a:prstGeom prst="rect">
            <a:avLst/>
          </a:prstGeom>
          <a:noFill/>
          <a:ln w="0">
            <a:noFill/>
            <a:prstDash val="solid"/>
          </a:ln>
        </p:spPr>
        <p:txBody>
          <a:bodyPr wrap="square" lIns="0" tIns="0" rIns="0" bIns="0" anchor="t">
            <a:noAutofit/>
          </a:bodyPr>
          <a:lstStyle>
            <a:defPPr algn="l">
              <a:defRPr sz="1950" b="0">
                <a:solidFill>
                  <a:srgbClr val="152D34"/>
                </a:solidFill>
                <a:latin typeface="DejaVu Sans"/>
                <a:ea typeface="DejaVu Sans"/>
                <a:cs typeface="DejaVu Sans"/>
              </a:defRPr>
            </a:defPPr>
            <a:lvl1pPr algn="l">
              <a:buNone/>
              <a:defRPr sz="1950" b="0">
                <a:solidFill>
                  <a:srgbClr val="152D34"/>
                </a:solidFill>
                <a:latin typeface="DejaVu Sans"/>
                <a:ea typeface="DejaVu Sans"/>
                <a:cs typeface="DejaVu Sans"/>
              </a:defRPr>
            </a:lvl1pPr>
            <a:lvl2pPr algn="l">
              <a:buNone/>
              <a:defRPr sz="1950" b="0">
                <a:solidFill>
                  <a:srgbClr val="152D34"/>
                </a:solidFill>
                <a:latin typeface="DejaVu Sans"/>
                <a:ea typeface="DejaVu Sans"/>
                <a:cs typeface="DejaVu Sans"/>
              </a:defRPr>
            </a:lvl2pPr>
            <a:lvl3pPr algn="l">
              <a:buNone/>
              <a:defRPr sz="1950" b="0">
                <a:solidFill>
                  <a:srgbClr val="152D34"/>
                </a:solidFill>
                <a:latin typeface="DejaVu Sans"/>
                <a:ea typeface="DejaVu Sans"/>
                <a:cs typeface="DejaVu Sans"/>
              </a:defRPr>
            </a:lvl3pPr>
            <a:lvl4pPr algn="l">
              <a:buNone/>
              <a:defRPr sz="1950" b="0">
                <a:solidFill>
                  <a:srgbClr val="152D34"/>
                </a:solidFill>
                <a:latin typeface="DejaVu Sans"/>
                <a:ea typeface="DejaVu Sans"/>
                <a:cs typeface="DejaVu Sans"/>
              </a:defRPr>
            </a:lvl4pPr>
            <a:lvl5pPr algn="l">
              <a:buNone/>
              <a:defRPr sz="1950" b="0">
                <a:solidFill>
                  <a:srgbClr val="152D34"/>
                </a:solidFill>
                <a:latin typeface="DejaVu Sans"/>
                <a:ea typeface="DejaVu Sans"/>
                <a:cs typeface="DejaVu Sans"/>
              </a:defRPr>
            </a:lvl5pPr>
            <a:lvl6pPr algn="l">
              <a:buNone/>
              <a:defRPr sz="1950" b="0">
                <a:solidFill>
                  <a:srgbClr val="152D34"/>
                </a:solidFill>
                <a:latin typeface="DejaVu Sans"/>
                <a:ea typeface="DejaVu Sans"/>
                <a:cs typeface="DejaVu Sans"/>
              </a:defRPr>
            </a:lvl6pPr>
            <a:lvl7pPr algn="l">
              <a:buNone/>
              <a:defRPr sz="1950" b="0">
                <a:solidFill>
                  <a:srgbClr val="152D34"/>
                </a:solidFill>
                <a:latin typeface="DejaVu Sans"/>
                <a:ea typeface="DejaVu Sans"/>
                <a:cs typeface="DejaVu Sans"/>
              </a:defRPr>
            </a:lvl7pPr>
            <a:lvl8pPr algn="l">
              <a:buNone/>
              <a:defRPr sz="1950" b="0">
                <a:solidFill>
                  <a:srgbClr val="152D34"/>
                </a:solidFill>
                <a:latin typeface="DejaVu Sans"/>
                <a:ea typeface="DejaVu Sans"/>
                <a:cs typeface="DejaVu Sans"/>
              </a:defRPr>
            </a:lvl8pPr>
            <a:lvl9pPr algn="l">
              <a:buNone/>
              <a:defRPr sz="1950" b="0">
                <a:solidFill>
                  <a:srgbClr val="152D34"/>
                </a:solidFill>
                <a:latin typeface="DejaVu Sans"/>
                <a:ea typeface="DejaVu Sans"/>
                <a:cs typeface="DejaVu Sans"/>
              </a:defRPr>
            </a:lvl9pPr>
          </a:lstStyle>
          <a:p>
            <a:pPr algn="l">
              <a:lnSpc>
                <a:spcPct val="112000"/>
              </a:lnSpc>
              <a:buNone/>
              <a:defRPr sz="1950" b="0">
                <a:solidFill>
                  <a:srgbClr val="152D34"/>
                </a:solidFill>
                <a:latin typeface="DejaVu Sans"/>
                <a:ea typeface="DejaVu Sans"/>
                <a:cs typeface="DejaVu Sans"/>
              </a:defRPr>
            </a:pPr>
            <a:r>
              <a:rPr sz="2400" b="0" dirty="0">
                <a:solidFill>
                  <a:srgbClr val="152D34"/>
                </a:solidFill>
                <a:latin typeface="Century Gothic" panose="020B0502020202020204" pitchFamily="34" charset="0"/>
              </a:rPr>
              <a:t>Review consequential actions such as publishing software.</a:t>
            </a:r>
          </a:p>
        </p:txBody>
      </p:sp>
    </p:spTree>
    <p:extLst>
      <p:ext uri="{BB962C8B-B14F-4D97-AF65-F5344CB8AC3E}">
        <p14:creationId xmlns:p14="http://schemas.microsoft.com/office/powerpoint/2010/main" val="1731131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arn(inVertical)">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arn(inVertical)">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barn(inVertical)">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barn(inVertical)">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barn(inVertical)">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barn(inVertical)">
                                      <p:cBhvr>
                                        <p:cTn id="44" dur="500"/>
                                        <p:tgtEl>
                                          <p:spTgt spid="8"/>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barn(inVertical)">
                                      <p:cBhvr>
                                        <p:cTn id="4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P spid="3" grpId="0"/>
      <p:bldP spid="4" grpId="0"/>
      <p:bldP spid="5" grpId="0"/>
      <p:bldP spid="6" grpId="0"/>
      <p:bldP spid="7" grpId="0"/>
      <p:bldP spid="8"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252D"/>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492B66E-E851-40C1-80A3-B7DB95EA4965}"/>
              </a:ext>
            </a:extLst>
          </p:cNvPr>
          <p:cNvSpPr>
            <a:spLocks noGrp="1"/>
          </p:cNvSpPr>
          <p:nvPr/>
        </p:nvSpPr>
        <p:spPr>
          <a:xfrm>
            <a:off x="723900" y="666749"/>
            <a:ext cx="10744200" cy="953503"/>
          </a:xfrm>
          <a:prstGeom prst="rect">
            <a:avLst/>
          </a:prstGeom>
          <a:noFill/>
          <a:ln w="0">
            <a:noFill/>
            <a:prstDash val="solid"/>
          </a:ln>
        </p:spPr>
        <p:txBody>
          <a:bodyPr wrap="square" lIns="0" tIns="0" rIns="0" bIns="0" anchor="t">
            <a:noAutofit/>
          </a:bodyPr>
          <a:lstStyle>
            <a:defPPr algn="l">
              <a:defRPr sz="2775" b="1">
                <a:solidFill>
                  <a:srgbClr val="8FE0D1"/>
                </a:solidFill>
                <a:latin typeface="DejaVu Sans"/>
                <a:ea typeface="DejaVu Sans"/>
                <a:cs typeface="DejaVu Sans"/>
              </a:defRPr>
            </a:defPPr>
            <a:lvl1pPr algn="l">
              <a:buNone/>
              <a:defRPr sz="2775" b="1">
                <a:solidFill>
                  <a:srgbClr val="8FE0D1"/>
                </a:solidFill>
                <a:latin typeface="DejaVu Sans"/>
                <a:ea typeface="DejaVu Sans"/>
                <a:cs typeface="DejaVu Sans"/>
              </a:defRPr>
            </a:lvl1pPr>
            <a:lvl2pPr algn="l">
              <a:buNone/>
              <a:defRPr sz="2775" b="1">
                <a:solidFill>
                  <a:srgbClr val="8FE0D1"/>
                </a:solidFill>
                <a:latin typeface="DejaVu Sans"/>
                <a:ea typeface="DejaVu Sans"/>
                <a:cs typeface="DejaVu Sans"/>
              </a:defRPr>
            </a:lvl2pPr>
            <a:lvl3pPr algn="l">
              <a:buNone/>
              <a:defRPr sz="2775" b="1">
                <a:solidFill>
                  <a:srgbClr val="8FE0D1"/>
                </a:solidFill>
                <a:latin typeface="DejaVu Sans"/>
                <a:ea typeface="DejaVu Sans"/>
                <a:cs typeface="DejaVu Sans"/>
              </a:defRPr>
            </a:lvl3pPr>
            <a:lvl4pPr algn="l">
              <a:buNone/>
              <a:defRPr sz="2775" b="1">
                <a:solidFill>
                  <a:srgbClr val="8FE0D1"/>
                </a:solidFill>
                <a:latin typeface="DejaVu Sans"/>
                <a:ea typeface="DejaVu Sans"/>
                <a:cs typeface="DejaVu Sans"/>
              </a:defRPr>
            </a:lvl4pPr>
            <a:lvl5pPr algn="l">
              <a:buNone/>
              <a:defRPr sz="2775" b="1">
                <a:solidFill>
                  <a:srgbClr val="8FE0D1"/>
                </a:solidFill>
                <a:latin typeface="DejaVu Sans"/>
                <a:ea typeface="DejaVu Sans"/>
                <a:cs typeface="DejaVu Sans"/>
              </a:defRPr>
            </a:lvl5pPr>
            <a:lvl6pPr algn="l">
              <a:buNone/>
              <a:defRPr sz="2775" b="1">
                <a:solidFill>
                  <a:srgbClr val="8FE0D1"/>
                </a:solidFill>
                <a:latin typeface="DejaVu Sans"/>
                <a:ea typeface="DejaVu Sans"/>
                <a:cs typeface="DejaVu Sans"/>
              </a:defRPr>
            </a:lvl6pPr>
            <a:lvl7pPr algn="l">
              <a:buNone/>
              <a:defRPr sz="2775" b="1">
                <a:solidFill>
                  <a:srgbClr val="8FE0D1"/>
                </a:solidFill>
                <a:latin typeface="DejaVu Sans"/>
                <a:ea typeface="DejaVu Sans"/>
                <a:cs typeface="DejaVu Sans"/>
              </a:defRPr>
            </a:lvl7pPr>
            <a:lvl8pPr algn="l">
              <a:buNone/>
              <a:defRPr sz="2775" b="1">
                <a:solidFill>
                  <a:srgbClr val="8FE0D1"/>
                </a:solidFill>
                <a:latin typeface="DejaVu Sans"/>
                <a:ea typeface="DejaVu Sans"/>
                <a:cs typeface="DejaVu Sans"/>
              </a:defRPr>
            </a:lvl8pPr>
            <a:lvl9pPr algn="l">
              <a:buNone/>
              <a:defRPr sz="2775" b="1">
                <a:solidFill>
                  <a:srgbClr val="8FE0D1"/>
                </a:solidFill>
                <a:latin typeface="DejaVu Sans"/>
                <a:ea typeface="DejaVu Sans"/>
                <a:cs typeface="DejaVu Sans"/>
              </a:defRPr>
            </a:lvl9pPr>
          </a:lstStyle>
          <a:p>
            <a:pPr algn="l">
              <a:lnSpc>
                <a:spcPct val="112000"/>
              </a:lnSpc>
              <a:buNone/>
              <a:defRPr sz="2775" b="1">
                <a:solidFill>
                  <a:srgbClr val="8FE0D1"/>
                </a:solidFill>
                <a:latin typeface="DejaVu Sans"/>
                <a:ea typeface="DejaVu Sans"/>
                <a:cs typeface="DejaVu Sans"/>
              </a:defRPr>
            </a:pPr>
            <a:r>
              <a:rPr sz="4800" b="1" dirty="0">
                <a:solidFill>
                  <a:srgbClr val="8FE0D1"/>
                </a:solidFill>
                <a:latin typeface="Century Gothic" panose="020B0502020202020204" pitchFamily="34" charset="0"/>
              </a:rPr>
              <a:t>Discussion</a:t>
            </a:r>
            <a:r>
              <a:rPr lang="en-CA" sz="3200" b="1" dirty="0">
                <a:solidFill>
                  <a:srgbClr val="8FE0D1"/>
                </a:solidFill>
                <a:latin typeface="Century Gothic" panose="020B0502020202020204" pitchFamily="34" charset="0"/>
              </a:rPr>
              <a:t>:</a:t>
            </a:r>
            <a:endParaRPr sz="3200" b="1" dirty="0">
              <a:solidFill>
                <a:srgbClr val="8FE0D1"/>
              </a:solidFill>
              <a:latin typeface="Century Gothic" panose="020B0502020202020204" pitchFamily="34" charset="0"/>
            </a:endParaRPr>
          </a:p>
        </p:txBody>
      </p:sp>
      <p:sp>
        <p:nvSpPr>
          <p:cNvPr id="2" name="question">
            <a:extLst>
              <a:ext uri="{FF2B5EF4-FFF2-40B4-BE49-F238E27FC236}">
                <a16:creationId xmlns:a16="http://schemas.microsoft.com/office/drawing/2014/main" id="{F4301700-66B6-486D-A6EF-739546E4C918}"/>
              </a:ext>
            </a:extLst>
          </p:cNvPr>
          <p:cNvSpPr>
            <a:spLocks noGrp="1"/>
          </p:cNvSpPr>
          <p:nvPr/>
        </p:nvSpPr>
        <p:spPr>
          <a:xfrm>
            <a:off x="723900" y="2076450"/>
            <a:ext cx="10744200" cy="3429000"/>
          </a:xfrm>
          <a:prstGeom prst="rect">
            <a:avLst/>
          </a:prstGeom>
          <a:noFill/>
          <a:ln w="0">
            <a:noFill/>
            <a:prstDash val="solid"/>
          </a:ln>
        </p:spPr>
        <p:txBody>
          <a:bodyPr wrap="square" lIns="0" tIns="0" rIns="0" bIns="0" anchor="t">
            <a:noAutofit/>
          </a:bodyPr>
          <a:lstStyle>
            <a:defPPr algn="l">
              <a:defRPr sz="3675" b="1">
                <a:solidFill>
                  <a:srgbClr val="FFFFFF"/>
                </a:solidFill>
                <a:latin typeface="DejaVu Sans"/>
                <a:ea typeface="DejaVu Sans"/>
                <a:cs typeface="DejaVu Sans"/>
              </a:defRPr>
            </a:defPPr>
            <a:lvl1pPr algn="l">
              <a:buNone/>
              <a:defRPr sz="3675" b="1">
                <a:solidFill>
                  <a:srgbClr val="FFFFFF"/>
                </a:solidFill>
                <a:latin typeface="DejaVu Sans"/>
                <a:ea typeface="DejaVu Sans"/>
                <a:cs typeface="DejaVu Sans"/>
              </a:defRPr>
            </a:lvl1pPr>
            <a:lvl2pPr algn="l">
              <a:buNone/>
              <a:defRPr sz="3675" b="1">
                <a:solidFill>
                  <a:srgbClr val="FFFFFF"/>
                </a:solidFill>
                <a:latin typeface="DejaVu Sans"/>
                <a:ea typeface="DejaVu Sans"/>
                <a:cs typeface="DejaVu Sans"/>
              </a:defRPr>
            </a:lvl2pPr>
            <a:lvl3pPr algn="l">
              <a:buNone/>
              <a:defRPr sz="3675" b="1">
                <a:solidFill>
                  <a:srgbClr val="FFFFFF"/>
                </a:solidFill>
                <a:latin typeface="DejaVu Sans"/>
                <a:ea typeface="DejaVu Sans"/>
                <a:cs typeface="DejaVu Sans"/>
              </a:defRPr>
            </a:lvl3pPr>
            <a:lvl4pPr algn="l">
              <a:buNone/>
              <a:defRPr sz="3675" b="1">
                <a:solidFill>
                  <a:srgbClr val="FFFFFF"/>
                </a:solidFill>
                <a:latin typeface="DejaVu Sans"/>
                <a:ea typeface="DejaVu Sans"/>
                <a:cs typeface="DejaVu Sans"/>
              </a:defRPr>
            </a:lvl4pPr>
            <a:lvl5pPr algn="l">
              <a:buNone/>
              <a:defRPr sz="3675" b="1">
                <a:solidFill>
                  <a:srgbClr val="FFFFFF"/>
                </a:solidFill>
                <a:latin typeface="DejaVu Sans"/>
                <a:ea typeface="DejaVu Sans"/>
                <a:cs typeface="DejaVu Sans"/>
              </a:defRPr>
            </a:lvl5pPr>
            <a:lvl6pPr algn="l">
              <a:buNone/>
              <a:defRPr sz="3675" b="1">
                <a:solidFill>
                  <a:srgbClr val="FFFFFF"/>
                </a:solidFill>
                <a:latin typeface="DejaVu Sans"/>
                <a:ea typeface="DejaVu Sans"/>
                <a:cs typeface="DejaVu Sans"/>
              </a:defRPr>
            </a:lvl6pPr>
            <a:lvl7pPr algn="l">
              <a:buNone/>
              <a:defRPr sz="3675" b="1">
                <a:solidFill>
                  <a:srgbClr val="FFFFFF"/>
                </a:solidFill>
                <a:latin typeface="DejaVu Sans"/>
                <a:ea typeface="DejaVu Sans"/>
                <a:cs typeface="DejaVu Sans"/>
              </a:defRPr>
            </a:lvl7pPr>
            <a:lvl8pPr algn="l">
              <a:buNone/>
              <a:defRPr sz="3675" b="1">
                <a:solidFill>
                  <a:srgbClr val="FFFFFF"/>
                </a:solidFill>
                <a:latin typeface="DejaVu Sans"/>
                <a:ea typeface="DejaVu Sans"/>
                <a:cs typeface="DejaVu Sans"/>
              </a:defRPr>
            </a:lvl8pPr>
            <a:lvl9pPr algn="l">
              <a:buNone/>
              <a:defRPr sz="3675" b="1">
                <a:solidFill>
                  <a:srgbClr val="FFFFFF"/>
                </a:solidFill>
                <a:latin typeface="DejaVu Sans"/>
                <a:ea typeface="DejaVu Sans"/>
                <a:cs typeface="DejaVu Sans"/>
              </a:defRPr>
            </a:lvl9pPr>
          </a:lstStyle>
          <a:p>
            <a:pPr algn="l">
              <a:lnSpc>
                <a:spcPct val="112000"/>
              </a:lnSpc>
              <a:buNone/>
              <a:defRPr sz="3675" b="1">
                <a:solidFill>
                  <a:srgbClr val="FFFFFF"/>
                </a:solidFill>
                <a:latin typeface="DejaVu Sans"/>
                <a:ea typeface="DejaVu Sans"/>
                <a:cs typeface="DejaVu Sans"/>
              </a:defRPr>
            </a:pPr>
            <a:r>
              <a:rPr sz="4000" b="1" dirty="0">
                <a:solidFill>
                  <a:srgbClr val="FFFFFF"/>
                </a:solidFill>
                <a:latin typeface="Century Gothic" panose="020B0502020202020204" pitchFamily="34" charset="0"/>
              </a:rPr>
              <a:t>What actions should an AI coding agent</a:t>
            </a:r>
          </a:p>
          <a:p>
            <a:pPr algn="l">
              <a:lnSpc>
                <a:spcPct val="112000"/>
              </a:lnSpc>
              <a:buNone/>
              <a:defRPr sz="3675" b="1">
                <a:solidFill>
                  <a:srgbClr val="FFFFFF"/>
                </a:solidFill>
                <a:latin typeface="DejaVu Sans"/>
                <a:ea typeface="DejaVu Sans"/>
                <a:cs typeface="DejaVu Sans"/>
              </a:defRPr>
            </a:pPr>
            <a:r>
              <a:rPr sz="4000" b="1" dirty="0">
                <a:solidFill>
                  <a:srgbClr val="FFFFFF"/>
                </a:solidFill>
                <a:latin typeface="Century Gothic" panose="020B0502020202020204" pitchFamily="34" charset="0"/>
              </a:rPr>
              <a:t>be allowed to perform independently,</a:t>
            </a:r>
          </a:p>
          <a:p>
            <a:pPr algn="l">
              <a:lnSpc>
                <a:spcPct val="112000"/>
              </a:lnSpc>
              <a:buNone/>
              <a:defRPr sz="3675" b="1">
                <a:solidFill>
                  <a:srgbClr val="FFFFFF"/>
                </a:solidFill>
                <a:latin typeface="DejaVu Sans"/>
                <a:ea typeface="DejaVu Sans"/>
                <a:cs typeface="DejaVu Sans"/>
              </a:defRPr>
            </a:pPr>
            <a:r>
              <a:rPr sz="4000" b="1" dirty="0">
                <a:solidFill>
                  <a:srgbClr val="FFFFFF"/>
                </a:solidFill>
                <a:latin typeface="Century Gothic" panose="020B0502020202020204" pitchFamily="34" charset="0"/>
              </a:rPr>
              <a:t>and which should require</a:t>
            </a:r>
          </a:p>
          <a:p>
            <a:pPr algn="l">
              <a:lnSpc>
                <a:spcPct val="112000"/>
              </a:lnSpc>
              <a:buNone/>
              <a:defRPr sz="3675" b="1">
                <a:solidFill>
                  <a:srgbClr val="FFFFFF"/>
                </a:solidFill>
                <a:latin typeface="DejaVu Sans"/>
                <a:ea typeface="DejaVu Sans"/>
                <a:cs typeface="DejaVu Sans"/>
              </a:defRPr>
            </a:pPr>
            <a:r>
              <a:rPr sz="4000" b="1" dirty="0">
                <a:solidFill>
                  <a:srgbClr val="8FE0D1"/>
                </a:solidFill>
                <a:latin typeface="Century Gothic" panose="020B0502020202020204" pitchFamily="34" charset="0"/>
              </a:rPr>
              <a:t>human approval?</a:t>
            </a:r>
          </a:p>
        </p:txBody>
      </p:sp>
    </p:spTree>
    <p:extLst>
      <p:ext uri="{BB962C8B-B14F-4D97-AF65-F5344CB8AC3E}">
        <p14:creationId xmlns:p14="http://schemas.microsoft.com/office/powerpoint/2010/main" val="15078809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665</Words>
  <Application>Microsoft Office PowerPoint</Application>
  <DocSecurity>0</DocSecurity>
  <PresentationFormat>Widescreen</PresentationFormat>
  <Paragraphs>78</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Century Gothic</vt:lpstr>
      <vt:lpstr>DejaVu Sans</vt:lpstr>
      <vt:lpstr>ChatGPT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Reihanne Fajilan</cp:lastModifiedBy>
  <cp:revision>1</cp:revision>
  <dcterms:created xsi:type="dcterms:W3CDTF">2026-10-19T02:15:02Z</dcterms:created>
  <dcterms:modified xsi:type="dcterms:W3CDTF">2026-10-19T02:40:56Z</dcterms:modified>
</cp:coreProperties>
</file>